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Bricolage Grotesque Bold" panose="020B0604020202020204" charset="0"/>
      <p:regular r:id="rId13"/>
    </p:embeddedFont>
    <p:embeddedFont>
      <p:font typeface="Glacial Indifference" panose="020B0604020202020204" charset="0"/>
      <p:regular r:id="rId14"/>
    </p:embeddedFont>
    <p:embeddedFont>
      <p:font typeface="Glacial Indifference Bold" panose="020B0604020202020204" charset="0"/>
      <p:regular r:id="rId15"/>
    </p:embeddedFont>
    <p:embeddedFont>
      <p:font typeface="Inter" panose="020B0604020202020204" charset="0"/>
      <p:regular r:id="rId16"/>
    </p:embeddedFont>
    <p:embeddedFont>
      <p:font typeface="Inter Bold" panose="020B0604020202020204" charset="0"/>
      <p:regular r:id="rId17"/>
    </p:embeddedFont>
    <p:embeddedFont>
      <p:font typeface="Inter Medium" panose="020B060402020202020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87AE925-61F2-4F5D-8DB0-9C835064E681}" v="3" dt="2026-08-12T08:26:01.9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99" autoAdjust="0"/>
    <p:restoredTop sz="94622" autoAdjust="0"/>
  </p:normalViewPr>
  <p:slideViewPr>
    <p:cSldViewPr>
      <p:cViewPr varScale="1">
        <p:scale>
          <a:sx n="52" d="100"/>
          <a:sy n="52" d="100"/>
        </p:scale>
        <p:origin x="874" y="10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font" Target="fonts/font3.fntdata"/><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uthvi raj mahadik" userId="c0d45dd761097238" providerId="LiveId" clId="{0BC1A07B-0DA6-4694-B3A2-A6DB7BDF9400}"/>
    <pc:docChg chg="custSel modSld">
      <pc:chgData name="pruthvi raj mahadik" userId="c0d45dd761097238" providerId="LiveId" clId="{0BC1A07B-0DA6-4694-B3A2-A6DB7BDF9400}" dt="2026-08-12T08:24:33.563" v="28" actId="14100"/>
      <pc:docMkLst>
        <pc:docMk/>
      </pc:docMkLst>
      <pc:sldChg chg="delSp modSp mod">
        <pc:chgData name="pruthvi raj mahadik" userId="c0d45dd761097238" providerId="LiveId" clId="{0BC1A07B-0DA6-4694-B3A2-A6DB7BDF9400}" dt="2026-08-12T08:24:33.563" v="28" actId="14100"/>
        <pc:sldMkLst>
          <pc:docMk/>
          <pc:sldMk cId="0" sldId="256"/>
        </pc:sldMkLst>
        <pc:spChg chg="del">
          <ac:chgData name="pruthvi raj mahadik" userId="c0d45dd761097238" providerId="LiveId" clId="{0BC1A07B-0DA6-4694-B3A2-A6DB7BDF9400}" dt="2026-08-12T08:18:37.583" v="0" actId="21"/>
          <ac:spMkLst>
            <pc:docMk/>
            <pc:sldMk cId="0" sldId="256"/>
            <ac:spMk id="2" creationId="{00000000-0000-0000-0000-000000000000}"/>
          </ac:spMkLst>
        </pc:spChg>
        <pc:spChg chg="mod">
          <ac:chgData name="pruthvi raj mahadik" userId="c0d45dd761097238" providerId="LiveId" clId="{0BC1A07B-0DA6-4694-B3A2-A6DB7BDF9400}" dt="2026-08-12T08:24:33.563" v="28" actId="14100"/>
          <ac:spMkLst>
            <pc:docMk/>
            <pc:sldMk cId="0" sldId="256"/>
            <ac:spMk id="4" creationId="{00000000-0000-0000-0000-000000000000}"/>
          </ac:spMkLst>
        </pc:spChg>
      </pc:sldChg>
      <pc:sldChg chg="addSp delSp modSp mod">
        <pc:chgData name="pruthvi raj mahadik" userId="c0d45dd761097238" providerId="LiveId" clId="{0BC1A07B-0DA6-4694-B3A2-A6DB7BDF9400}" dt="2026-08-12T08:21:55.619" v="22" actId="1076"/>
        <pc:sldMkLst>
          <pc:docMk/>
          <pc:sldMk cId="0" sldId="257"/>
        </pc:sldMkLst>
        <pc:spChg chg="del mod">
          <ac:chgData name="pruthvi raj mahadik" userId="c0d45dd761097238" providerId="LiveId" clId="{0BC1A07B-0DA6-4694-B3A2-A6DB7BDF9400}" dt="2026-08-12T08:18:48.509" v="2" actId="21"/>
          <ac:spMkLst>
            <pc:docMk/>
            <pc:sldMk cId="0" sldId="257"/>
            <ac:spMk id="2" creationId="{00000000-0000-0000-0000-000000000000}"/>
          </ac:spMkLst>
        </pc:spChg>
        <pc:spChg chg="del">
          <ac:chgData name="pruthvi raj mahadik" userId="c0d45dd761097238" providerId="LiveId" clId="{0BC1A07B-0DA6-4694-B3A2-A6DB7BDF9400}" dt="2026-08-12T08:19:58.213" v="11" actId="478"/>
          <ac:spMkLst>
            <pc:docMk/>
            <pc:sldMk cId="0" sldId="257"/>
            <ac:spMk id="3" creationId="{00000000-0000-0000-0000-000000000000}"/>
          </ac:spMkLst>
        </pc:spChg>
        <pc:spChg chg="mod">
          <ac:chgData name="pruthvi raj mahadik" userId="c0d45dd761097238" providerId="LiveId" clId="{0BC1A07B-0DA6-4694-B3A2-A6DB7BDF9400}" dt="2026-08-12T08:21:55.619" v="22" actId="1076"/>
          <ac:spMkLst>
            <pc:docMk/>
            <pc:sldMk cId="0" sldId="257"/>
            <ac:spMk id="4" creationId="{00000000-0000-0000-0000-000000000000}"/>
          </ac:spMkLst>
        </pc:spChg>
        <pc:spChg chg="mod">
          <ac:chgData name="pruthvi raj mahadik" userId="c0d45dd761097238" providerId="LiveId" clId="{0BC1A07B-0DA6-4694-B3A2-A6DB7BDF9400}" dt="2026-08-12T08:20:32.470" v="14" actId="255"/>
          <ac:spMkLst>
            <pc:docMk/>
            <pc:sldMk cId="0" sldId="257"/>
            <ac:spMk id="5" creationId="{00000000-0000-0000-0000-000000000000}"/>
          </ac:spMkLst>
        </pc:spChg>
        <pc:spChg chg="add del mod">
          <ac:chgData name="pruthvi raj mahadik" userId="c0d45dd761097238" providerId="LiveId" clId="{0BC1A07B-0DA6-4694-B3A2-A6DB7BDF9400}" dt="2026-08-12T08:21:48.389" v="21"/>
          <ac:spMkLst>
            <pc:docMk/>
            <pc:sldMk cId="0" sldId="257"/>
            <ac:spMk id="7" creationId="{6EB43704-72AA-22BD-2C12-A0E35EFA7287}"/>
          </ac:spMkLst>
        </pc:spChg>
      </pc:sldChg>
      <pc:sldChg chg="delSp mod">
        <pc:chgData name="pruthvi raj mahadik" userId="c0d45dd761097238" providerId="LiveId" clId="{0BC1A07B-0DA6-4694-B3A2-A6DB7BDF9400}" dt="2026-08-12T08:18:54.507" v="3" actId="21"/>
        <pc:sldMkLst>
          <pc:docMk/>
          <pc:sldMk cId="0" sldId="258"/>
        </pc:sldMkLst>
        <pc:spChg chg="del">
          <ac:chgData name="pruthvi raj mahadik" userId="c0d45dd761097238" providerId="LiveId" clId="{0BC1A07B-0DA6-4694-B3A2-A6DB7BDF9400}" dt="2026-08-12T08:18:54.507" v="3" actId="21"/>
          <ac:spMkLst>
            <pc:docMk/>
            <pc:sldMk cId="0" sldId="258"/>
            <ac:spMk id="2" creationId="{00000000-0000-0000-0000-000000000000}"/>
          </ac:spMkLst>
        </pc:spChg>
      </pc:sldChg>
      <pc:sldChg chg="delSp modSp mod">
        <pc:chgData name="pruthvi raj mahadik" userId="c0d45dd761097238" providerId="LiveId" clId="{0BC1A07B-0DA6-4694-B3A2-A6DB7BDF9400}" dt="2026-08-12T08:22:54.820" v="27" actId="1076"/>
        <pc:sldMkLst>
          <pc:docMk/>
          <pc:sldMk cId="0" sldId="259"/>
        </pc:sldMkLst>
        <pc:spChg chg="del">
          <ac:chgData name="pruthvi raj mahadik" userId="c0d45dd761097238" providerId="LiveId" clId="{0BC1A07B-0DA6-4694-B3A2-A6DB7BDF9400}" dt="2026-08-12T08:18:58.675" v="4" actId="21"/>
          <ac:spMkLst>
            <pc:docMk/>
            <pc:sldMk cId="0" sldId="259"/>
            <ac:spMk id="2" creationId="{00000000-0000-0000-0000-000000000000}"/>
          </ac:spMkLst>
        </pc:spChg>
        <pc:spChg chg="mod">
          <ac:chgData name="pruthvi raj mahadik" userId="c0d45dd761097238" providerId="LiveId" clId="{0BC1A07B-0DA6-4694-B3A2-A6DB7BDF9400}" dt="2026-08-12T08:22:32.829" v="24" actId="1076"/>
          <ac:spMkLst>
            <pc:docMk/>
            <pc:sldMk cId="0" sldId="259"/>
            <ac:spMk id="4" creationId="{00000000-0000-0000-0000-000000000000}"/>
          </ac:spMkLst>
        </pc:spChg>
        <pc:spChg chg="mod">
          <ac:chgData name="pruthvi raj mahadik" userId="c0d45dd761097238" providerId="LiveId" clId="{0BC1A07B-0DA6-4694-B3A2-A6DB7BDF9400}" dt="2026-08-12T08:22:37.715" v="25" actId="1076"/>
          <ac:spMkLst>
            <pc:docMk/>
            <pc:sldMk cId="0" sldId="259"/>
            <ac:spMk id="5" creationId="{00000000-0000-0000-0000-000000000000}"/>
          </ac:spMkLst>
        </pc:spChg>
        <pc:spChg chg="mod">
          <ac:chgData name="pruthvi raj mahadik" userId="c0d45dd761097238" providerId="LiveId" clId="{0BC1A07B-0DA6-4694-B3A2-A6DB7BDF9400}" dt="2026-08-12T08:22:54.820" v="27" actId="1076"/>
          <ac:spMkLst>
            <pc:docMk/>
            <pc:sldMk cId="0" sldId="259"/>
            <ac:spMk id="6" creationId="{00000000-0000-0000-0000-000000000000}"/>
          </ac:spMkLst>
        </pc:spChg>
      </pc:sldChg>
      <pc:sldChg chg="delSp mod">
        <pc:chgData name="pruthvi raj mahadik" userId="c0d45dd761097238" providerId="LiveId" clId="{0BC1A07B-0DA6-4694-B3A2-A6DB7BDF9400}" dt="2026-08-12T08:19:05.886" v="5" actId="21"/>
        <pc:sldMkLst>
          <pc:docMk/>
          <pc:sldMk cId="0" sldId="260"/>
        </pc:sldMkLst>
        <pc:spChg chg="del">
          <ac:chgData name="pruthvi raj mahadik" userId="c0d45dd761097238" providerId="LiveId" clId="{0BC1A07B-0DA6-4694-B3A2-A6DB7BDF9400}" dt="2026-08-12T08:19:05.886" v="5" actId="21"/>
          <ac:spMkLst>
            <pc:docMk/>
            <pc:sldMk cId="0" sldId="260"/>
            <ac:spMk id="2" creationId="{00000000-0000-0000-0000-000000000000}"/>
          </ac:spMkLst>
        </pc:spChg>
      </pc:sldChg>
      <pc:sldChg chg="delSp mod">
        <pc:chgData name="pruthvi raj mahadik" userId="c0d45dd761097238" providerId="LiveId" clId="{0BC1A07B-0DA6-4694-B3A2-A6DB7BDF9400}" dt="2026-08-12T08:19:13.584" v="6" actId="21"/>
        <pc:sldMkLst>
          <pc:docMk/>
          <pc:sldMk cId="0" sldId="261"/>
        </pc:sldMkLst>
        <pc:spChg chg="del">
          <ac:chgData name="pruthvi raj mahadik" userId="c0d45dd761097238" providerId="LiveId" clId="{0BC1A07B-0DA6-4694-B3A2-A6DB7BDF9400}" dt="2026-08-12T08:19:13.584" v="6" actId="21"/>
          <ac:spMkLst>
            <pc:docMk/>
            <pc:sldMk cId="0" sldId="261"/>
            <ac:spMk id="2" creationId="{00000000-0000-0000-0000-000000000000}"/>
          </ac:spMkLst>
        </pc:spChg>
      </pc:sldChg>
      <pc:sldChg chg="delSp mod">
        <pc:chgData name="pruthvi raj mahadik" userId="c0d45dd761097238" providerId="LiveId" clId="{0BC1A07B-0DA6-4694-B3A2-A6DB7BDF9400}" dt="2026-08-12T08:19:17.525" v="7" actId="21"/>
        <pc:sldMkLst>
          <pc:docMk/>
          <pc:sldMk cId="0" sldId="262"/>
        </pc:sldMkLst>
        <pc:spChg chg="del">
          <ac:chgData name="pruthvi raj mahadik" userId="c0d45dd761097238" providerId="LiveId" clId="{0BC1A07B-0DA6-4694-B3A2-A6DB7BDF9400}" dt="2026-08-12T08:19:17.525" v="7" actId="21"/>
          <ac:spMkLst>
            <pc:docMk/>
            <pc:sldMk cId="0" sldId="262"/>
            <ac:spMk id="2" creationId="{00000000-0000-0000-0000-000000000000}"/>
          </ac:spMkLst>
        </pc:spChg>
      </pc:sldChg>
      <pc:sldChg chg="delSp mod">
        <pc:chgData name="pruthvi raj mahadik" userId="c0d45dd761097238" providerId="LiveId" clId="{0BC1A07B-0DA6-4694-B3A2-A6DB7BDF9400}" dt="2026-08-12T08:19:22.135" v="8" actId="21"/>
        <pc:sldMkLst>
          <pc:docMk/>
          <pc:sldMk cId="0" sldId="263"/>
        </pc:sldMkLst>
        <pc:spChg chg="del">
          <ac:chgData name="pruthvi raj mahadik" userId="c0d45dd761097238" providerId="LiveId" clId="{0BC1A07B-0DA6-4694-B3A2-A6DB7BDF9400}" dt="2026-08-12T08:19:22.135" v="8" actId="21"/>
          <ac:spMkLst>
            <pc:docMk/>
            <pc:sldMk cId="0" sldId="263"/>
            <ac:spMk id="2" creationId="{00000000-0000-0000-0000-000000000000}"/>
          </ac:spMkLst>
        </pc:spChg>
      </pc:sldChg>
      <pc:sldChg chg="delSp mod">
        <pc:chgData name="pruthvi raj mahadik" userId="c0d45dd761097238" providerId="LiveId" clId="{0BC1A07B-0DA6-4694-B3A2-A6DB7BDF9400}" dt="2026-08-12T08:19:37.693" v="9" actId="21"/>
        <pc:sldMkLst>
          <pc:docMk/>
          <pc:sldMk cId="0" sldId="264"/>
        </pc:sldMkLst>
        <pc:spChg chg="del">
          <ac:chgData name="pruthvi raj mahadik" userId="c0d45dd761097238" providerId="LiveId" clId="{0BC1A07B-0DA6-4694-B3A2-A6DB7BDF9400}" dt="2026-08-12T08:19:37.693" v="9" actId="21"/>
          <ac:spMkLst>
            <pc:docMk/>
            <pc:sldMk cId="0" sldId="264"/>
            <ac:spMk id="2" creationId="{00000000-0000-0000-0000-000000000000}"/>
          </ac:spMkLst>
        </pc:spChg>
      </pc:sldChg>
      <pc:sldChg chg="delSp mod">
        <pc:chgData name="pruthvi raj mahadik" userId="c0d45dd761097238" providerId="LiveId" clId="{0BC1A07B-0DA6-4694-B3A2-A6DB7BDF9400}" dt="2026-08-12T08:19:45.431" v="10" actId="21"/>
        <pc:sldMkLst>
          <pc:docMk/>
          <pc:sldMk cId="0" sldId="265"/>
        </pc:sldMkLst>
        <pc:spChg chg="del">
          <ac:chgData name="pruthvi raj mahadik" userId="c0d45dd761097238" providerId="LiveId" clId="{0BC1A07B-0DA6-4694-B3A2-A6DB7BDF9400}" dt="2026-08-12T08:19:45.431" v="10" actId="21"/>
          <ac:spMkLst>
            <pc:docMk/>
            <pc:sldMk cId="0" sldId="265"/>
            <ac:spMk id="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87BDAA-7728-4CDF-AB71-A40074F093A7}" type="datetimeFigureOut">
              <a:rPr lang="en-IN" smtClean="0"/>
              <a:t>12-08-2026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45F4E4-81F4-4778-B736-D4652048041A}" type="slidenum">
              <a:rPr lang="en-IN" smtClean="0"/>
              <a:t>‹#›</a:t>
            </a:fld>
            <a:endParaRPr lang="en-IN"/>
          </a:p>
        </p:txBody>
      </p:sp>
    </p:spTree>
    <p:extLst>
      <p:ext uri="{BB962C8B-B14F-4D97-AF65-F5344CB8AC3E}">
        <p14:creationId xmlns:p14="http://schemas.microsoft.com/office/powerpoint/2010/main" val="2505294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4562114" y="6553200"/>
            <a:ext cx="9163771" cy="0"/>
          </a:xfrm>
          <a:prstGeom prst="line">
            <a:avLst/>
          </a:prstGeom>
          <a:ln w="28575" cap="flat">
            <a:solidFill>
              <a:srgbClr val="000000"/>
            </a:solidFill>
            <a:prstDash val="solid"/>
            <a:headEnd type="none" w="sm" len="sm"/>
            <a:tailEnd type="none" w="sm" len="sm"/>
          </a:ln>
        </p:spPr>
        <p:txBody>
          <a:bodyPr/>
          <a:lstStyle/>
          <a:p>
            <a:endParaRPr lang="en-IN"/>
          </a:p>
        </p:txBody>
      </p:sp>
      <p:sp>
        <p:nvSpPr>
          <p:cNvPr id="4" name="Freeform 4"/>
          <p:cNvSpPr/>
          <p:nvPr/>
        </p:nvSpPr>
        <p:spPr>
          <a:xfrm>
            <a:off x="0" y="39981"/>
            <a:ext cx="18288000" cy="2055519"/>
          </a:xfrm>
          <a:custGeom>
            <a:avLst/>
            <a:gdLst/>
            <a:ahLst/>
            <a:cxnLst/>
            <a:rect l="l" t="t" r="r" b="b"/>
            <a:pathLst>
              <a:path w="18288000" h="2100385">
                <a:moveTo>
                  <a:pt x="0" y="0"/>
                </a:moveTo>
                <a:lnTo>
                  <a:pt x="18288000" y="0"/>
                </a:lnTo>
                <a:lnTo>
                  <a:pt x="18288000" y="2100385"/>
                </a:lnTo>
                <a:lnTo>
                  <a:pt x="0" y="2100385"/>
                </a:lnTo>
                <a:lnTo>
                  <a:pt x="0" y="0"/>
                </a:lnTo>
                <a:close/>
              </a:path>
            </a:pathLst>
          </a:custGeom>
          <a:blipFill>
            <a:blip r:embed="rId2">
              <a:alphaModFix amt="80000"/>
            </a:blip>
            <a:stretch>
              <a:fillRect t="-2432" b="-12935"/>
            </a:stretch>
          </a:blipFill>
          <a:ln cap="sq">
            <a:noFill/>
            <a:prstDash val="solid"/>
            <a:miter/>
          </a:ln>
        </p:spPr>
        <p:txBody>
          <a:bodyPr/>
          <a:lstStyle/>
          <a:p>
            <a:endParaRPr lang="en-IN"/>
          </a:p>
        </p:txBody>
      </p:sp>
      <p:sp>
        <p:nvSpPr>
          <p:cNvPr id="5" name="AutoShape 5"/>
          <p:cNvSpPr/>
          <p:nvPr/>
        </p:nvSpPr>
        <p:spPr>
          <a:xfrm>
            <a:off x="4562114" y="9685321"/>
            <a:ext cx="9163771" cy="0"/>
          </a:xfrm>
          <a:prstGeom prst="line">
            <a:avLst/>
          </a:prstGeom>
          <a:ln w="28575" cap="flat">
            <a:solidFill>
              <a:srgbClr val="000000"/>
            </a:solidFill>
            <a:prstDash val="solid"/>
            <a:headEnd type="none" w="sm" len="sm"/>
            <a:tailEnd type="none" w="sm" len="sm"/>
          </a:ln>
        </p:spPr>
        <p:txBody>
          <a:bodyPr/>
          <a:lstStyle/>
          <a:p>
            <a:endParaRPr lang="en-IN"/>
          </a:p>
        </p:txBody>
      </p:sp>
      <p:sp>
        <p:nvSpPr>
          <p:cNvPr id="6" name="TextBox 6"/>
          <p:cNvSpPr txBox="1"/>
          <p:nvPr/>
        </p:nvSpPr>
        <p:spPr>
          <a:xfrm>
            <a:off x="4366883" y="3867150"/>
            <a:ext cx="9554234" cy="2552700"/>
          </a:xfrm>
          <a:prstGeom prst="rect">
            <a:avLst/>
          </a:prstGeom>
        </p:spPr>
        <p:txBody>
          <a:bodyPr lIns="0" tIns="0" rIns="0" bIns="0" rtlCol="0" anchor="t">
            <a:spAutoFit/>
          </a:bodyPr>
          <a:lstStyle/>
          <a:p>
            <a:pPr algn="ctr">
              <a:lnSpc>
                <a:spcPts val="10080"/>
              </a:lnSpc>
            </a:pPr>
            <a:r>
              <a:rPr lang="en-US" sz="8400" b="1">
                <a:solidFill>
                  <a:srgbClr val="000000"/>
                </a:solidFill>
                <a:latin typeface="Bricolage Grotesque Bold"/>
                <a:ea typeface="Bricolage Grotesque Bold"/>
                <a:cs typeface="Bricolage Grotesque Bold"/>
                <a:sym typeface="Bricolage Grotesque Bold"/>
              </a:rPr>
              <a:t>sleep health  and lifestyle analysis</a:t>
            </a:r>
          </a:p>
        </p:txBody>
      </p:sp>
      <p:sp>
        <p:nvSpPr>
          <p:cNvPr id="7" name="TextBox 7"/>
          <p:cNvSpPr txBox="1"/>
          <p:nvPr/>
        </p:nvSpPr>
        <p:spPr>
          <a:xfrm>
            <a:off x="3787203" y="6619875"/>
            <a:ext cx="10713593" cy="3381382"/>
          </a:xfrm>
          <a:prstGeom prst="rect">
            <a:avLst/>
          </a:prstGeom>
        </p:spPr>
        <p:txBody>
          <a:bodyPr lIns="0" tIns="0" rIns="0" bIns="0" rtlCol="0" anchor="t">
            <a:spAutoFit/>
          </a:bodyPr>
          <a:lstStyle/>
          <a:p>
            <a:pPr algn="ctr">
              <a:lnSpc>
                <a:spcPts val="5087"/>
              </a:lnSpc>
            </a:pPr>
            <a:r>
              <a:rPr lang="en-US" sz="3634" u="sng">
                <a:solidFill>
                  <a:srgbClr val="000000"/>
                </a:solidFill>
                <a:latin typeface="Inter"/>
                <a:ea typeface="Inter"/>
                <a:cs typeface="Inter"/>
                <a:sym typeface="Inter"/>
              </a:rPr>
              <a:t>PRESENTED BY</a:t>
            </a:r>
          </a:p>
          <a:p>
            <a:pPr algn="ctr">
              <a:lnSpc>
                <a:spcPts val="4361"/>
              </a:lnSpc>
            </a:pPr>
            <a:r>
              <a:rPr lang="en-US" sz="3115">
                <a:solidFill>
                  <a:srgbClr val="000000"/>
                </a:solidFill>
                <a:latin typeface="Inter"/>
                <a:ea typeface="Inter"/>
                <a:cs typeface="Inter"/>
                <a:sym typeface="Inter"/>
              </a:rPr>
              <a:t> Team lead-Mahadik Pruthviraj Srinivas(25B11CS534)</a:t>
            </a:r>
          </a:p>
          <a:p>
            <a:pPr algn="ctr">
              <a:lnSpc>
                <a:spcPts val="4361"/>
              </a:lnSpc>
            </a:pPr>
            <a:r>
              <a:rPr lang="en-US" sz="3115">
                <a:solidFill>
                  <a:srgbClr val="000000"/>
                </a:solidFill>
                <a:latin typeface="Inter"/>
                <a:ea typeface="Inter"/>
                <a:cs typeface="Inter"/>
                <a:sym typeface="Inter"/>
              </a:rPr>
              <a:t>Member 2 -Ekula Tejeshwanth(25B11CS254)</a:t>
            </a:r>
          </a:p>
          <a:p>
            <a:pPr algn="ctr">
              <a:lnSpc>
                <a:spcPts val="4361"/>
              </a:lnSpc>
            </a:pPr>
            <a:r>
              <a:rPr lang="en-US" sz="3115">
                <a:solidFill>
                  <a:srgbClr val="000000"/>
                </a:solidFill>
                <a:latin typeface="Inter"/>
                <a:ea typeface="Inter"/>
                <a:cs typeface="Inter"/>
                <a:sym typeface="Inter"/>
              </a:rPr>
              <a:t>Member 3-S. Bhavitha(25B11CS868)</a:t>
            </a:r>
          </a:p>
          <a:p>
            <a:pPr algn="ctr">
              <a:lnSpc>
                <a:spcPts val="4361"/>
              </a:lnSpc>
            </a:pPr>
            <a:r>
              <a:rPr lang="en-US" sz="3115">
                <a:solidFill>
                  <a:srgbClr val="000000"/>
                </a:solidFill>
                <a:latin typeface="Inter"/>
                <a:ea typeface="Inter"/>
                <a:cs typeface="Inter"/>
                <a:sym typeface="Inter"/>
              </a:rPr>
              <a:t>Member 4-k.Arun kumar(26B21CS104)</a:t>
            </a:r>
          </a:p>
          <a:p>
            <a:pPr algn="ctr">
              <a:lnSpc>
                <a:spcPts val="4361"/>
              </a:lnSpc>
              <a:spcBef>
                <a:spcPct val="0"/>
              </a:spcBef>
            </a:pPr>
            <a:endParaRPr lang="en-US" sz="3115">
              <a:solidFill>
                <a:srgbClr val="000000"/>
              </a:solidFill>
              <a:latin typeface="Inter"/>
              <a:ea typeface="Inter"/>
              <a:cs typeface="Inter"/>
              <a:sym typeface="Inter"/>
            </a:endParaRPr>
          </a:p>
        </p:txBody>
      </p:sp>
      <p:sp>
        <p:nvSpPr>
          <p:cNvPr id="8" name="TextBox 8"/>
          <p:cNvSpPr txBox="1"/>
          <p:nvPr/>
        </p:nvSpPr>
        <p:spPr>
          <a:xfrm>
            <a:off x="6979234" y="2686050"/>
            <a:ext cx="4329529" cy="1047750"/>
          </a:xfrm>
          <a:prstGeom prst="rect">
            <a:avLst/>
          </a:prstGeom>
        </p:spPr>
        <p:txBody>
          <a:bodyPr wrap="square" lIns="0" tIns="0" rIns="0" bIns="0" rtlCol="0" anchor="t">
            <a:spAutoFit/>
          </a:bodyPr>
          <a:lstStyle/>
          <a:p>
            <a:pPr algn="l">
              <a:lnSpc>
                <a:spcPts val="8282"/>
              </a:lnSpc>
              <a:spcBef>
                <a:spcPct val="0"/>
              </a:spcBef>
            </a:pPr>
            <a:r>
              <a:rPr lang="en-US" sz="6902" b="1" dirty="0">
                <a:solidFill>
                  <a:srgbClr val="000000"/>
                </a:solidFill>
                <a:latin typeface="Bricolage Grotesque Bold"/>
                <a:ea typeface="Bricolage Grotesque Bold"/>
                <a:cs typeface="Bricolage Grotesque Bold"/>
                <a:sym typeface="Bricolage Grotesque Bold"/>
              </a:rPr>
              <a:t>TEAM-9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775049" y="1333500"/>
            <a:ext cx="8516328" cy="946798"/>
          </a:xfrm>
          <a:prstGeom prst="rect">
            <a:avLst/>
          </a:prstGeom>
        </p:spPr>
        <p:txBody>
          <a:bodyPr wrap="square" lIns="0" tIns="0" rIns="0" bIns="0" rtlCol="0" anchor="t">
            <a:spAutoFit/>
          </a:bodyPr>
          <a:lstStyle/>
          <a:p>
            <a:pPr algn="l">
              <a:lnSpc>
                <a:spcPts val="7919"/>
              </a:lnSpc>
            </a:pPr>
            <a:r>
              <a:rPr lang="en-US" sz="5400" b="1" dirty="0">
                <a:solidFill>
                  <a:srgbClr val="000000"/>
                </a:solidFill>
                <a:latin typeface="Bricolage Grotesque Bold"/>
                <a:ea typeface="Bricolage Grotesque Bold"/>
                <a:cs typeface="Bricolage Grotesque Bold"/>
                <a:sym typeface="Bricolage Grotesque Bold"/>
              </a:rPr>
              <a:t>PROBLEM STATEMENT :</a:t>
            </a:r>
          </a:p>
        </p:txBody>
      </p:sp>
      <p:sp>
        <p:nvSpPr>
          <p:cNvPr id="5" name="TextBox 5"/>
          <p:cNvSpPr txBox="1"/>
          <p:nvPr/>
        </p:nvSpPr>
        <p:spPr>
          <a:xfrm>
            <a:off x="381001" y="2813302"/>
            <a:ext cx="17471090" cy="4086888"/>
          </a:xfrm>
          <a:prstGeom prst="rect">
            <a:avLst/>
          </a:prstGeom>
        </p:spPr>
        <p:txBody>
          <a:bodyPr wrap="square" lIns="0" tIns="0" rIns="0" bIns="0" rtlCol="0" anchor="t">
            <a:spAutoFit/>
          </a:bodyPr>
          <a:lstStyle/>
          <a:p>
            <a:pPr algn="ctr">
              <a:lnSpc>
                <a:spcPts val="4585"/>
              </a:lnSpc>
            </a:pPr>
            <a:r>
              <a:rPr lang="en-US" sz="3200" dirty="0">
                <a:solidFill>
                  <a:srgbClr val="000000"/>
                </a:solidFill>
                <a:latin typeface="Glacial Indifference"/>
                <a:ea typeface="Glacial Indifference"/>
                <a:cs typeface="Glacial Indifference"/>
                <a:sym typeface="Glacial Indifference"/>
              </a:rPr>
              <a:t>Sleep plays an important role in maintaining physical and mental health. However, factors such as stress, physical activity, occupation, and lifestyle habits can significantly affect sleep quality and sleep duration.</a:t>
            </a:r>
          </a:p>
          <a:p>
            <a:pPr algn="ctr">
              <a:lnSpc>
                <a:spcPts val="4585"/>
              </a:lnSpc>
            </a:pPr>
            <a:r>
              <a:rPr lang="en-US" sz="3200" dirty="0">
                <a:solidFill>
                  <a:srgbClr val="000000"/>
                </a:solidFill>
                <a:latin typeface="Glacial Indifference"/>
                <a:ea typeface="Glacial Indifference"/>
                <a:cs typeface="Glacial Indifference"/>
                <a:sym typeface="Glacial Indifference"/>
              </a:rPr>
              <a:t>This project analyses the Sleep Health and Lifestyle Dataset to identify how these factors influence sleep duration, sleep quality, and sleep disorders, helping us understand the major causes of poor sleep.</a:t>
            </a:r>
          </a:p>
          <a:p>
            <a:pPr algn="ctr">
              <a:lnSpc>
                <a:spcPts val="4585"/>
              </a:lnSpc>
              <a:spcBef>
                <a:spcPct val="0"/>
              </a:spcBef>
            </a:pPr>
            <a:endParaRPr lang="en-US" sz="3200" dirty="0">
              <a:solidFill>
                <a:srgbClr val="000000"/>
              </a:solidFill>
              <a:latin typeface="Glacial Indifference"/>
              <a:ea typeface="Glacial Indifference"/>
              <a:cs typeface="Glacial Indifference"/>
              <a:sym typeface="Glacial Indifference"/>
            </a:endParaRPr>
          </a:p>
        </p:txBody>
      </p:sp>
      <p:sp>
        <p:nvSpPr>
          <p:cNvPr id="6" name="Freeform 6"/>
          <p:cNvSpPr/>
          <p:nvPr/>
        </p:nvSpPr>
        <p:spPr>
          <a:xfrm>
            <a:off x="13254788" y="-454666"/>
            <a:ext cx="5369650" cy="2966732"/>
          </a:xfrm>
          <a:custGeom>
            <a:avLst/>
            <a:gdLst/>
            <a:ahLst/>
            <a:cxnLst/>
            <a:rect l="l" t="t" r="r" b="b"/>
            <a:pathLst>
              <a:path w="5369650" h="2966732">
                <a:moveTo>
                  <a:pt x="0" y="0"/>
                </a:moveTo>
                <a:lnTo>
                  <a:pt x="5369650" y="0"/>
                </a:lnTo>
                <a:lnTo>
                  <a:pt x="5369650" y="2966732"/>
                </a:lnTo>
                <a:lnTo>
                  <a:pt x="0" y="2966732"/>
                </a:lnTo>
                <a:lnTo>
                  <a:pt x="0" y="0"/>
                </a:lnTo>
                <a:close/>
              </a:path>
            </a:pathLst>
          </a:custGeom>
          <a:blipFill>
            <a:blip r:embed="rId2"/>
            <a:stretch>
              <a:fillRect/>
            </a:stretch>
          </a:blipFill>
        </p:spPr>
        <p:txBody>
          <a:bodyPr/>
          <a:lstStyle/>
          <a:p>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2501171" y="1246455"/>
            <a:ext cx="7354115" cy="2124075"/>
          </a:xfrm>
          <a:prstGeom prst="rect">
            <a:avLst/>
          </a:prstGeom>
        </p:spPr>
        <p:txBody>
          <a:bodyPr lIns="0" tIns="0" rIns="0" bIns="0" rtlCol="0" anchor="t">
            <a:spAutoFit/>
          </a:bodyPr>
          <a:lstStyle/>
          <a:p>
            <a:pPr algn="l">
              <a:lnSpc>
                <a:spcPts val="8328"/>
              </a:lnSpc>
            </a:pPr>
            <a:r>
              <a:rPr lang="en-US" sz="6940" b="1" u="sng">
                <a:solidFill>
                  <a:srgbClr val="000000"/>
                </a:solidFill>
                <a:latin typeface="Bricolage Grotesque Bold"/>
                <a:ea typeface="Bricolage Grotesque Bold"/>
                <a:cs typeface="Bricolage Grotesque Bold"/>
                <a:sym typeface="Bricolage Grotesque Bold"/>
              </a:rPr>
              <a:t>Objectives:</a:t>
            </a:r>
          </a:p>
          <a:p>
            <a:pPr algn="l">
              <a:lnSpc>
                <a:spcPts val="8328"/>
              </a:lnSpc>
            </a:pPr>
            <a:endParaRPr lang="en-US" sz="6940" b="1" u="sng">
              <a:solidFill>
                <a:srgbClr val="000000"/>
              </a:solidFill>
              <a:latin typeface="Bricolage Grotesque Bold"/>
              <a:ea typeface="Bricolage Grotesque Bold"/>
              <a:cs typeface="Bricolage Grotesque Bold"/>
              <a:sym typeface="Bricolage Grotesque Bold"/>
            </a:endParaRPr>
          </a:p>
        </p:txBody>
      </p:sp>
      <p:sp>
        <p:nvSpPr>
          <p:cNvPr id="4" name="TextBox 4"/>
          <p:cNvSpPr txBox="1"/>
          <p:nvPr/>
        </p:nvSpPr>
        <p:spPr>
          <a:xfrm>
            <a:off x="2501171" y="2854962"/>
            <a:ext cx="13428917" cy="5399865"/>
          </a:xfrm>
          <a:prstGeom prst="rect">
            <a:avLst/>
          </a:prstGeom>
        </p:spPr>
        <p:txBody>
          <a:bodyPr lIns="0" tIns="0" rIns="0" bIns="0" rtlCol="0" anchor="t">
            <a:spAutoFit/>
          </a:bodyPr>
          <a:lstStyle/>
          <a:p>
            <a:pPr marL="759315" lvl="1" indent="-379657" algn="l">
              <a:lnSpc>
                <a:spcPts val="4923"/>
              </a:lnSpc>
              <a:buAutoNum type="arabicPeriod"/>
            </a:pPr>
            <a:r>
              <a:rPr lang="en-US" sz="3516">
                <a:solidFill>
                  <a:srgbClr val="000000"/>
                </a:solidFill>
                <a:latin typeface="Glacial Indifference"/>
                <a:ea typeface="Glacial Indifference"/>
                <a:cs typeface="Glacial Indifference"/>
                <a:sym typeface="Glacial Indifference"/>
              </a:rPr>
              <a:t> Study the relationship between stress level and sleep duration.</a:t>
            </a:r>
          </a:p>
          <a:p>
            <a:pPr marL="759315" lvl="1" indent="-379657" algn="l">
              <a:lnSpc>
                <a:spcPts val="4923"/>
              </a:lnSpc>
              <a:buAutoNum type="arabicPeriod"/>
            </a:pPr>
            <a:r>
              <a:rPr lang="en-US" sz="3516">
                <a:solidFill>
                  <a:srgbClr val="000000"/>
                </a:solidFill>
                <a:latin typeface="Glacial Indifference"/>
                <a:ea typeface="Glacial Indifference"/>
                <a:cs typeface="Glacial Indifference"/>
                <a:sym typeface="Glacial Indifference"/>
              </a:rPr>
              <a:t> Analyse how physical activity influences sleep quality.</a:t>
            </a:r>
          </a:p>
          <a:p>
            <a:pPr marL="759315" lvl="1" indent="-379657" algn="l">
              <a:lnSpc>
                <a:spcPts val="4923"/>
              </a:lnSpc>
              <a:buAutoNum type="arabicPeriod"/>
            </a:pPr>
            <a:r>
              <a:rPr lang="en-US" sz="3516">
                <a:solidFill>
                  <a:srgbClr val="000000"/>
                </a:solidFill>
                <a:latin typeface="Glacial Indifference"/>
                <a:ea typeface="Glacial Indifference"/>
                <a:cs typeface="Glacial Indifference"/>
                <a:sym typeface="Glacial Indifference"/>
              </a:rPr>
              <a:t> Compare sleep duration and stress levels across different occupations.</a:t>
            </a:r>
          </a:p>
          <a:p>
            <a:pPr marL="759315" lvl="1" indent="-379657" algn="l">
              <a:lnSpc>
                <a:spcPts val="4923"/>
              </a:lnSpc>
              <a:buAutoNum type="arabicPeriod"/>
            </a:pPr>
            <a:r>
              <a:rPr lang="en-US" sz="3516">
                <a:solidFill>
                  <a:srgbClr val="000000"/>
                </a:solidFill>
                <a:latin typeface="Glacial Indifference"/>
                <a:ea typeface="Glacial Indifference"/>
                <a:cs typeface="Glacial Indifference"/>
                <a:sym typeface="Glacial Indifference"/>
              </a:rPr>
              <a:t>Examine the occurrence of sleep disorders among different groups.</a:t>
            </a:r>
          </a:p>
          <a:p>
            <a:pPr marL="759315" lvl="1" indent="-379657" algn="l">
              <a:lnSpc>
                <a:spcPts val="4923"/>
              </a:lnSpc>
              <a:buAutoNum type="arabicPeriod"/>
            </a:pPr>
            <a:r>
              <a:rPr lang="en-US" sz="3516">
                <a:solidFill>
                  <a:srgbClr val="000000"/>
                </a:solidFill>
                <a:latin typeface="Glacial Indifference"/>
                <a:ea typeface="Glacial Indifference"/>
                <a:cs typeface="Glacial Indifference"/>
                <a:sym typeface="Glacial Indifference"/>
              </a:rPr>
              <a:t> Predict sleep duration using Linear Regression based on lifestyle factors</a:t>
            </a:r>
          </a:p>
          <a:p>
            <a:pPr algn="ctr">
              <a:lnSpc>
                <a:spcPts val="3565"/>
              </a:lnSpc>
              <a:spcBef>
                <a:spcPct val="0"/>
              </a:spcBef>
            </a:pPr>
            <a:endParaRPr lang="en-US" sz="3516">
              <a:solidFill>
                <a:srgbClr val="000000"/>
              </a:solidFill>
              <a:latin typeface="Glacial Indifference"/>
              <a:ea typeface="Glacial Indifference"/>
              <a:cs typeface="Glacial Indifference"/>
              <a:sym typeface="Glacial Indifference"/>
            </a:endParaRPr>
          </a:p>
        </p:txBody>
      </p:sp>
      <p:sp>
        <p:nvSpPr>
          <p:cNvPr id="5" name="Freeform 5"/>
          <p:cNvSpPr/>
          <p:nvPr/>
        </p:nvSpPr>
        <p:spPr>
          <a:xfrm>
            <a:off x="13245263" y="-227386"/>
            <a:ext cx="5369650" cy="2966732"/>
          </a:xfrm>
          <a:custGeom>
            <a:avLst/>
            <a:gdLst/>
            <a:ahLst/>
            <a:cxnLst/>
            <a:rect l="l" t="t" r="r" b="b"/>
            <a:pathLst>
              <a:path w="5369650" h="2966732">
                <a:moveTo>
                  <a:pt x="0" y="0"/>
                </a:moveTo>
                <a:lnTo>
                  <a:pt x="5369650" y="0"/>
                </a:lnTo>
                <a:lnTo>
                  <a:pt x="5369650" y="2966732"/>
                </a:lnTo>
                <a:lnTo>
                  <a:pt x="0" y="2966732"/>
                </a:lnTo>
                <a:lnTo>
                  <a:pt x="0" y="0"/>
                </a:lnTo>
                <a:close/>
              </a:path>
            </a:pathLst>
          </a:custGeom>
          <a:blipFill>
            <a:blip r:embed="rId2"/>
            <a:stretch>
              <a:fillRect/>
            </a:stretch>
          </a:blipFill>
        </p:spPr>
        <p:txBody>
          <a:bodyPr/>
          <a:lstStyle/>
          <a:p>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65381" y="452187"/>
            <a:ext cx="10460629" cy="1943100"/>
          </a:xfrm>
          <a:prstGeom prst="rect">
            <a:avLst/>
          </a:prstGeom>
        </p:spPr>
        <p:txBody>
          <a:bodyPr lIns="0" tIns="0" rIns="0" bIns="0" rtlCol="0" anchor="t">
            <a:spAutoFit/>
          </a:bodyPr>
          <a:lstStyle/>
          <a:p>
            <a:pPr algn="l">
              <a:lnSpc>
                <a:spcPts val="7679"/>
              </a:lnSpc>
            </a:pPr>
            <a:r>
              <a:rPr lang="en-US" sz="6399" b="1" u="sng" dirty="0">
                <a:solidFill>
                  <a:srgbClr val="000000"/>
                </a:solidFill>
                <a:latin typeface="Bricolage Grotesque Bold"/>
                <a:ea typeface="Bricolage Grotesque Bold"/>
                <a:cs typeface="Bricolage Grotesque Bold"/>
                <a:sym typeface="Bricolage Grotesque Bold"/>
              </a:rPr>
              <a:t>Dataset &amp; Technology:</a:t>
            </a:r>
          </a:p>
          <a:p>
            <a:pPr algn="l">
              <a:lnSpc>
                <a:spcPts val="7679"/>
              </a:lnSpc>
            </a:pPr>
            <a:endParaRPr lang="en-US" sz="6399" b="1" u="sng" dirty="0">
              <a:solidFill>
                <a:srgbClr val="000000"/>
              </a:solidFill>
              <a:latin typeface="Bricolage Grotesque Bold"/>
              <a:ea typeface="Bricolage Grotesque Bold"/>
              <a:cs typeface="Bricolage Grotesque Bold"/>
              <a:sym typeface="Bricolage Grotesque Bold"/>
            </a:endParaRPr>
          </a:p>
        </p:txBody>
      </p:sp>
      <p:sp>
        <p:nvSpPr>
          <p:cNvPr id="4" name="TextBox 4"/>
          <p:cNvSpPr txBox="1"/>
          <p:nvPr/>
        </p:nvSpPr>
        <p:spPr>
          <a:xfrm>
            <a:off x="565381" y="1714500"/>
            <a:ext cx="6169612" cy="7545988"/>
          </a:xfrm>
          <a:prstGeom prst="rect">
            <a:avLst/>
          </a:prstGeom>
        </p:spPr>
        <p:txBody>
          <a:bodyPr lIns="0" tIns="0" rIns="0" bIns="0" rtlCol="0" anchor="t">
            <a:spAutoFit/>
          </a:bodyPr>
          <a:lstStyle/>
          <a:p>
            <a:pPr algn="ctr">
              <a:lnSpc>
                <a:spcPts val="4429"/>
              </a:lnSpc>
            </a:pPr>
            <a:r>
              <a:rPr lang="en-US" sz="3163" b="1" u="sng">
                <a:solidFill>
                  <a:srgbClr val="000000"/>
                </a:solidFill>
                <a:latin typeface="Inter Bold"/>
                <a:ea typeface="Inter Bold"/>
                <a:cs typeface="Inter Bold"/>
                <a:sym typeface="Inter Bold"/>
              </a:rPr>
              <a:t>Dataset:</a:t>
            </a:r>
          </a:p>
          <a:p>
            <a:pPr algn="ctr">
              <a:lnSpc>
                <a:spcPts val="3729"/>
              </a:lnSpc>
            </a:pPr>
            <a:endParaRPr lang="en-US" sz="3163" b="1" u="sng">
              <a:solidFill>
                <a:srgbClr val="000000"/>
              </a:solidFill>
              <a:latin typeface="Inter Bold"/>
              <a:ea typeface="Inter Bold"/>
              <a:cs typeface="Inter Bold"/>
              <a:sym typeface="Inter Bold"/>
            </a:endParaRPr>
          </a:p>
          <a:p>
            <a:pPr algn="l">
              <a:lnSpc>
                <a:spcPts val="4009"/>
              </a:lnSpc>
              <a:spcBef>
                <a:spcPct val="0"/>
              </a:spcBef>
            </a:pPr>
            <a:r>
              <a:rPr lang="en-US" sz="2863" b="1" u="sng">
                <a:solidFill>
                  <a:srgbClr val="000000"/>
                </a:solidFill>
                <a:latin typeface="Inter Medium"/>
                <a:ea typeface="Inter Medium"/>
                <a:cs typeface="Inter Medium"/>
                <a:sym typeface="Inter Medium"/>
              </a:rPr>
              <a:t>Source:</a:t>
            </a:r>
          </a:p>
          <a:p>
            <a:pPr algn="l">
              <a:lnSpc>
                <a:spcPts val="4009"/>
              </a:lnSpc>
              <a:spcBef>
                <a:spcPct val="0"/>
              </a:spcBef>
            </a:pPr>
            <a:r>
              <a:rPr lang="en-US" sz="2863" b="1">
                <a:solidFill>
                  <a:srgbClr val="000000"/>
                </a:solidFill>
                <a:latin typeface="Inter Medium"/>
                <a:ea typeface="Inter Medium"/>
                <a:cs typeface="Inter Medium"/>
                <a:sym typeface="Inter Medium"/>
              </a:rPr>
              <a:t> Kaggle</a:t>
            </a:r>
          </a:p>
          <a:p>
            <a:pPr algn="l">
              <a:lnSpc>
                <a:spcPts val="4009"/>
              </a:lnSpc>
              <a:spcBef>
                <a:spcPct val="0"/>
              </a:spcBef>
            </a:pPr>
            <a:r>
              <a:rPr lang="en-US" sz="2863" b="1" u="sng">
                <a:solidFill>
                  <a:srgbClr val="000000"/>
                </a:solidFill>
                <a:latin typeface="Inter Medium"/>
                <a:ea typeface="Inter Medium"/>
                <a:cs typeface="Inter Medium"/>
                <a:sym typeface="Inter Medium"/>
              </a:rPr>
              <a:t>Dataset:</a:t>
            </a:r>
          </a:p>
          <a:p>
            <a:pPr algn="l">
              <a:lnSpc>
                <a:spcPts val="4009"/>
              </a:lnSpc>
              <a:spcBef>
                <a:spcPct val="0"/>
              </a:spcBef>
            </a:pPr>
            <a:r>
              <a:rPr lang="en-US" sz="2863" b="1">
                <a:solidFill>
                  <a:srgbClr val="000000"/>
                </a:solidFill>
                <a:latin typeface="Inter Medium"/>
                <a:ea typeface="Inter Medium"/>
                <a:cs typeface="Inter Medium"/>
                <a:sym typeface="Inter Medium"/>
              </a:rPr>
              <a:t> Sleep Health and Lifestyle Dataset</a:t>
            </a:r>
          </a:p>
          <a:p>
            <a:pPr algn="l">
              <a:lnSpc>
                <a:spcPts val="4009"/>
              </a:lnSpc>
              <a:spcBef>
                <a:spcPct val="0"/>
              </a:spcBef>
            </a:pPr>
            <a:r>
              <a:rPr lang="en-US" sz="2863" b="1" u="sng">
                <a:solidFill>
                  <a:srgbClr val="000000"/>
                </a:solidFill>
                <a:latin typeface="Inter Medium"/>
                <a:ea typeface="Inter Medium"/>
                <a:cs typeface="Inter Medium"/>
                <a:sym typeface="Inter Medium"/>
              </a:rPr>
              <a:t>Records:</a:t>
            </a:r>
          </a:p>
          <a:p>
            <a:pPr algn="l">
              <a:lnSpc>
                <a:spcPts val="4009"/>
              </a:lnSpc>
              <a:spcBef>
                <a:spcPct val="0"/>
              </a:spcBef>
            </a:pPr>
            <a:r>
              <a:rPr lang="en-US" sz="2863" b="1">
                <a:solidFill>
                  <a:srgbClr val="000000"/>
                </a:solidFill>
                <a:latin typeface="Inter Medium"/>
                <a:ea typeface="Inter Medium"/>
                <a:cs typeface="Inter Medium"/>
                <a:sym typeface="Inter Medium"/>
              </a:rPr>
              <a:t> 374</a:t>
            </a:r>
          </a:p>
          <a:p>
            <a:pPr algn="l">
              <a:lnSpc>
                <a:spcPts val="4009"/>
              </a:lnSpc>
              <a:spcBef>
                <a:spcPct val="0"/>
              </a:spcBef>
            </a:pPr>
            <a:r>
              <a:rPr lang="en-US" sz="2863" b="1" u="sng">
                <a:solidFill>
                  <a:srgbClr val="000000"/>
                </a:solidFill>
                <a:latin typeface="Inter Medium"/>
                <a:ea typeface="Inter Medium"/>
                <a:cs typeface="Inter Medium"/>
                <a:sym typeface="Inter Medium"/>
              </a:rPr>
              <a:t>Columns:</a:t>
            </a:r>
          </a:p>
          <a:p>
            <a:pPr algn="l">
              <a:lnSpc>
                <a:spcPts val="4009"/>
              </a:lnSpc>
              <a:spcBef>
                <a:spcPct val="0"/>
              </a:spcBef>
            </a:pPr>
            <a:r>
              <a:rPr lang="en-US" sz="2863" b="1">
                <a:solidFill>
                  <a:srgbClr val="000000"/>
                </a:solidFill>
                <a:latin typeface="Inter Medium"/>
                <a:ea typeface="Inter Medium"/>
                <a:cs typeface="Inter Medium"/>
                <a:sym typeface="Inter Medium"/>
              </a:rPr>
              <a:t> 13</a:t>
            </a:r>
          </a:p>
          <a:p>
            <a:pPr algn="l">
              <a:lnSpc>
                <a:spcPts val="4009"/>
              </a:lnSpc>
              <a:spcBef>
                <a:spcPct val="0"/>
              </a:spcBef>
            </a:pPr>
            <a:r>
              <a:rPr lang="en-US" sz="2863" b="1" u="sng">
                <a:solidFill>
                  <a:srgbClr val="000000"/>
                </a:solidFill>
                <a:latin typeface="Inter Medium"/>
                <a:ea typeface="Inter Medium"/>
                <a:cs typeface="Inter Medium"/>
                <a:sym typeface="Inter Medium"/>
              </a:rPr>
              <a:t>Target Variables</a:t>
            </a:r>
          </a:p>
          <a:p>
            <a:pPr algn="l">
              <a:lnSpc>
                <a:spcPts val="4009"/>
              </a:lnSpc>
              <a:spcBef>
                <a:spcPct val="0"/>
              </a:spcBef>
            </a:pPr>
            <a:r>
              <a:rPr lang="en-US" sz="2863" b="1">
                <a:solidFill>
                  <a:srgbClr val="000000"/>
                </a:solidFill>
                <a:latin typeface="Inter Medium"/>
                <a:ea typeface="Inter Medium"/>
                <a:cs typeface="Inter Medium"/>
                <a:sym typeface="Inter Medium"/>
              </a:rPr>
              <a:t>Sleep Duration</a:t>
            </a:r>
          </a:p>
          <a:p>
            <a:pPr algn="l">
              <a:lnSpc>
                <a:spcPts val="4009"/>
              </a:lnSpc>
              <a:spcBef>
                <a:spcPct val="0"/>
              </a:spcBef>
            </a:pPr>
            <a:r>
              <a:rPr lang="en-US" sz="2863" b="1">
                <a:solidFill>
                  <a:srgbClr val="000000"/>
                </a:solidFill>
                <a:latin typeface="Inter Medium"/>
                <a:ea typeface="Inter Medium"/>
                <a:cs typeface="Inter Medium"/>
                <a:sym typeface="Inter Medium"/>
              </a:rPr>
              <a:t>Quality of Sleep</a:t>
            </a:r>
          </a:p>
          <a:p>
            <a:pPr algn="l">
              <a:lnSpc>
                <a:spcPts val="4009"/>
              </a:lnSpc>
              <a:spcBef>
                <a:spcPct val="0"/>
              </a:spcBef>
            </a:pPr>
            <a:r>
              <a:rPr lang="en-US" sz="2863" b="1">
                <a:solidFill>
                  <a:srgbClr val="000000"/>
                </a:solidFill>
                <a:latin typeface="Inter Medium"/>
                <a:ea typeface="Inter Medium"/>
                <a:cs typeface="Inter Medium"/>
                <a:sym typeface="Inter Medium"/>
              </a:rPr>
              <a:t>Sleep Disorder</a:t>
            </a:r>
          </a:p>
          <a:p>
            <a:pPr algn="ctr">
              <a:lnSpc>
                <a:spcPts val="3729"/>
              </a:lnSpc>
              <a:spcBef>
                <a:spcPct val="0"/>
              </a:spcBef>
            </a:pPr>
            <a:endParaRPr lang="en-US" sz="2863" b="1">
              <a:solidFill>
                <a:srgbClr val="000000"/>
              </a:solidFill>
              <a:latin typeface="Inter Medium"/>
              <a:ea typeface="Inter Medium"/>
              <a:cs typeface="Inter Medium"/>
              <a:sym typeface="Inter Medium"/>
            </a:endParaRPr>
          </a:p>
        </p:txBody>
      </p:sp>
      <p:sp>
        <p:nvSpPr>
          <p:cNvPr id="5" name="AutoShape 5"/>
          <p:cNvSpPr/>
          <p:nvPr/>
        </p:nvSpPr>
        <p:spPr>
          <a:xfrm>
            <a:off x="6696814" y="2445694"/>
            <a:ext cx="0" cy="6628322"/>
          </a:xfrm>
          <a:prstGeom prst="line">
            <a:avLst/>
          </a:prstGeom>
          <a:ln w="28575" cap="flat">
            <a:solidFill>
              <a:srgbClr val="000000"/>
            </a:solidFill>
            <a:prstDash val="solid"/>
            <a:headEnd type="none" w="sm" len="sm"/>
            <a:tailEnd type="none" w="sm" len="sm"/>
          </a:ln>
        </p:spPr>
        <p:txBody>
          <a:bodyPr/>
          <a:lstStyle/>
          <a:p>
            <a:endParaRPr lang="en-IN"/>
          </a:p>
        </p:txBody>
      </p:sp>
      <p:sp>
        <p:nvSpPr>
          <p:cNvPr id="6" name="TextBox 6"/>
          <p:cNvSpPr txBox="1"/>
          <p:nvPr/>
        </p:nvSpPr>
        <p:spPr>
          <a:xfrm>
            <a:off x="7603172" y="2190678"/>
            <a:ext cx="4001929" cy="6883338"/>
          </a:xfrm>
          <a:prstGeom prst="rect">
            <a:avLst/>
          </a:prstGeom>
        </p:spPr>
        <p:txBody>
          <a:bodyPr lIns="0" tIns="0" rIns="0" bIns="0" rtlCol="0" anchor="t">
            <a:spAutoFit/>
          </a:bodyPr>
          <a:lstStyle/>
          <a:p>
            <a:pPr algn="ctr">
              <a:lnSpc>
                <a:spcPts val="4545"/>
              </a:lnSpc>
              <a:spcBef>
                <a:spcPct val="0"/>
              </a:spcBef>
            </a:pPr>
            <a:r>
              <a:rPr lang="en-US" sz="3246" b="1" dirty="0">
                <a:solidFill>
                  <a:srgbClr val="000000"/>
                </a:solidFill>
                <a:latin typeface="Inter Bold"/>
                <a:ea typeface="Inter Bold"/>
                <a:cs typeface="Inter Bold"/>
                <a:sym typeface="Inter Bold"/>
              </a:rPr>
              <a:t>I</a:t>
            </a:r>
            <a:r>
              <a:rPr lang="en-US" sz="3246" b="1" u="sng" dirty="0">
                <a:solidFill>
                  <a:srgbClr val="000000"/>
                </a:solidFill>
                <a:latin typeface="Inter Bold"/>
                <a:ea typeface="Inter Bold"/>
                <a:cs typeface="Inter Bold"/>
                <a:sym typeface="Inter Bold"/>
              </a:rPr>
              <a:t>mportant Features:</a:t>
            </a:r>
          </a:p>
          <a:p>
            <a:pPr algn="ctr">
              <a:lnSpc>
                <a:spcPts val="4545"/>
              </a:lnSpc>
              <a:spcBef>
                <a:spcPct val="0"/>
              </a:spcBef>
            </a:pPr>
            <a:endParaRPr lang="en-US" sz="3246" b="1" u="sng" dirty="0">
              <a:solidFill>
                <a:srgbClr val="000000"/>
              </a:solidFill>
              <a:latin typeface="Inter Bold"/>
              <a:ea typeface="Inter Bold"/>
              <a:cs typeface="Inter Bold"/>
              <a:sym typeface="Inter Bold"/>
            </a:endParaRPr>
          </a:p>
          <a:p>
            <a:pPr algn="ctr">
              <a:lnSpc>
                <a:spcPts val="4405"/>
              </a:lnSpc>
              <a:spcBef>
                <a:spcPct val="0"/>
              </a:spcBef>
            </a:pPr>
            <a:r>
              <a:rPr lang="en-US" sz="3146" b="1" dirty="0">
                <a:solidFill>
                  <a:srgbClr val="000000"/>
                </a:solidFill>
                <a:latin typeface="Inter Medium"/>
                <a:ea typeface="Inter Medium"/>
                <a:cs typeface="Inter Medium"/>
                <a:sym typeface="Inter Medium"/>
              </a:rPr>
              <a:t>Age</a:t>
            </a:r>
          </a:p>
          <a:p>
            <a:pPr algn="ctr">
              <a:lnSpc>
                <a:spcPts val="4405"/>
              </a:lnSpc>
              <a:spcBef>
                <a:spcPct val="0"/>
              </a:spcBef>
            </a:pPr>
            <a:r>
              <a:rPr lang="en-US" sz="3146" b="1" dirty="0">
                <a:solidFill>
                  <a:srgbClr val="000000"/>
                </a:solidFill>
                <a:latin typeface="Inter Medium"/>
                <a:ea typeface="Inter Medium"/>
                <a:cs typeface="Inter Medium"/>
                <a:sym typeface="Inter Medium"/>
              </a:rPr>
              <a:t>Gender</a:t>
            </a:r>
          </a:p>
          <a:p>
            <a:pPr algn="ctr">
              <a:lnSpc>
                <a:spcPts val="4405"/>
              </a:lnSpc>
              <a:spcBef>
                <a:spcPct val="0"/>
              </a:spcBef>
            </a:pPr>
            <a:r>
              <a:rPr lang="en-US" sz="3146" b="1" dirty="0">
                <a:solidFill>
                  <a:srgbClr val="000000"/>
                </a:solidFill>
                <a:latin typeface="Inter Medium"/>
                <a:ea typeface="Inter Medium"/>
                <a:cs typeface="Inter Medium"/>
                <a:sym typeface="Inter Medium"/>
              </a:rPr>
              <a:t>Occupation</a:t>
            </a:r>
          </a:p>
          <a:p>
            <a:pPr algn="ctr">
              <a:lnSpc>
                <a:spcPts val="4405"/>
              </a:lnSpc>
              <a:spcBef>
                <a:spcPct val="0"/>
              </a:spcBef>
            </a:pPr>
            <a:r>
              <a:rPr lang="en-US" sz="3146" b="1" dirty="0">
                <a:solidFill>
                  <a:srgbClr val="000000"/>
                </a:solidFill>
                <a:latin typeface="Inter Medium"/>
                <a:ea typeface="Inter Medium"/>
                <a:cs typeface="Inter Medium"/>
                <a:sym typeface="Inter Medium"/>
              </a:rPr>
              <a:t>Stress Level</a:t>
            </a:r>
          </a:p>
          <a:p>
            <a:pPr algn="ctr">
              <a:lnSpc>
                <a:spcPts val="4405"/>
              </a:lnSpc>
              <a:spcBef>
                <a:spcPct val="0"/>
              </a:spcBef>
            </a:pPr>
            <a:r>
              <a:rPr lang="en-US" sz="3146" b="1" dirty="0">
                <a:solidFill>
                  <a:srgbClr val="000000"/>
                </a:solidFill>
                <a:latin typeface="Inter Medium"/>
                <a:ea typeface="Inter Medium"/>
                <a:cs typeface="Inter Medium"/>
                <a:sym typeface="Inter Medium"/>
              </a:rPr>
              <a:t>Physical Activity</a:t>
            </a:r>
          </a:p>
          <a:p>
            <a:pPr algn="ctr">
              <a:lnSpc>
                <a:spcPts val="4405"/>
              </a:lnSpc>
              <a:spcBef>
                <a:spcPct val="0"/>
              </a:spcBef>
            </a:pPr>
            <a:r>
              <a:rPr lang="en-US" sz="3146" b="1" dirty="0">
                <a:solidFill>
                  <a:srgbClr val="000000"/>
                </a:solidFill>
                <a:latin typeface="Inter Medium"/>
                <a:ea typeface="Inter Medium"/>
                <a:cs typeface="Inter Medium"/>
                <a:sym typeface="Inter Medium"/>
              </a:rPr>
              <a:t>Heart Rate</a:t>
            </a:r>
          </a:p>
          <a:p>
            <a:pPr algn="ctr">
              <a:lnSpc>
                <a:spcPts val="4405"/>
              </a:lnSpc>
              <a:spcBef>
                <a:spcPct val="0"/>
              </a:spcBef>
            </a:pPr>
            <a:r>
              <a:rPr lang="en-US" sz="3146" b="1" dirty="0">
                <a:solidFill>
                  <a:srgbClr val="000000"/>
                </a:solidFill>
                <a:latin typeface="Inter Medium"/>
                <a:ea typeface="Inter Medium"/>
                <a:cs typeface="Inter Medium"/>
                <a:sym typeface="Inter Medium"/>
              </a:rPr>
              <a:t>BMI Category</a:t>
            </a:r>
          </a:p>
          <a:p>
            <a:pPr algn="ctr">
              <a:lnSpc>
                <a:spcPts val="4405"/>
              </a:lnSpc>
              <a:spcBef>
                <a:spcPct val="0"/>
              </a:spcBef>
            </a:pPr>
            <a:r>
              <a:rPr lang="en-US" sz="3146" b="1" dirty="0">
                <a:solidFill>
                  <a:srgbClr val="000000"/>
                </a:solidFill>
                <a:latin typeface="Inter Medium"/>
                <a:ea typeface="Inter Medium"/>
                <a:cs typeface="Inter Medium"/>
                <a:sym typeface="Inter Medium"/>
              </a:rPr>
              <a:t>Blood Pressure</a:t>
            </a:r>
          </a:p>
          <a:p>
            <a:pPr algn="ctr">
              <a:lnSpc>
                <a:spcPts val="4405"/>
              </a:lnSpc>
              <a:spcBef>
                <a:spcPct val="0"/>
              </a:spcBef>
            </a:pPr>
            <a:r>
              <a:rPr lang="en-US" sz="3146" b="1" dirty="0">
                <a:solidFill>
                  <a:srgbClr val="000000"/>
                </a:solidFill>
                <a:latin typeface="Inter Medium"/>
                <a:ea typeface="Inter Medium"/>
                <a:cs typeface="Inter Medium"/>
                <a:sym typeface="Inter Medium"/>
              </a:rPr>
              <a:t>Daily Steps</a:t>
            </a:r>
          </a:p>
          <a:p>
            <a:pPr algn="ctr">
              <a:lnSpc>
                <a:spcPts val="6311"/>
              </a:lnSpc>
              <a:spcBef>
                <a:spcPct val="0"/>
              </a:spcBef>
            </a:pPr>
            <a:endParaRPr lang="en-US" sz="3146" b="1" dirty="0">
              <a:solidFill>
                <a:srgbClr val="000000"/>
              </a:solidFill>
              <a:latin typeface="Inter Medium"/>
              <a:ea typeface="Inter Medium"/>
              <a:cs typeface="Inter Medium"/>
              <a:sym typeface="Inter Medium"/>
            </a:endParaRPr>
          </a:p>
        </p:txBody>
      </p:sp>
      <p:sp>
        <p:nvSpPr>
          <p:cNvPr id="7" name="AutoShape 7"/>
          <p:cNvSpPr/>
          <p:nvPr/>
        </p:nvSpPr>
        <p:spPr>
          <a:xfrm>
            <a:off x="12595923" y="2395287"/>
            <a:ext cx="0" cy="6628322"/>
          </a:xfrm>
          <a:prstGeom prst="line">
            <a:avLst/>
          </a:prstGeom>
          <a:ln w="28575" cap="flat">
            <a:solidFill>
              <a:srgbClr val="000000"/>
            </a:solidFill>
            <a:prstDash val="solid"/>
            <a:headEnd type="none" w="sm" len="sm"/>
            <a:tailEnd type="none" w="sm" len="sm"/>
          </a:ln>
        </p:spPr>
        <p:txBody>
          <a:bodyPr/>
          <a:lstStyle/>
          <a:p>
            <a:endParaRPr lang="en-IN"/>
          </a:p>
        </p:txBody>
      </p:sp>
      <p:sp>
        <p:nvSpPr>
          <p:cNvPr id="8" name="TextBox 8"/>
          <p:cNvSpPr txBox="1"/>
          <p:nvPr/>
        </p:nvSpPr>
        <p:spPr>
          <a:xfrm>
            <a:off x="12473281" y="2190678"/>
            <a:ext cx="5566505" cy="6832931"/>
          </a:xfrm>
          <a:prstGeom prst="rect">
            <a:avLst/>
          </a:prstGeom>
        </p:spPr>
        <p:txBody>
          <a:bodyPr lIns="0" tIns="0" rIns="0" bIns="0" rtlCol="0" anchor="t">
            <a:spAutoFit/>
          </a:bodyPr>
          <a:lstStyle/>
          <a:p>
            <a:pPr algn="ctr">
              <a:lnSpc>
                <a:spcPts val="4566"/>
              </a:lnSpc>
            </a:pPr>
            <a:r>
              <a:rPr lang="en-US" sz="3261" b="1" u="sng">
                <a:solidFill>
                  <a:srgbClr val="000000"/>
                </a:solidFill>
                <a:latin typeface="Inter Bold"/>
                <a:ea typeface="Inter Bold"/>
                <a:cs typeface="Inter Bold"/>
                <a:sym typeface="Inter Bold"/>
              </a:rPr>
              <a:t>Tech Stack:</a:t>
            </a:r>
          </a:p>
          <a:p>
            <a:pPr algn="ctr">
              <a:lnSpc>
                <a:spcPts val="4426"/>
              </a:lnSpc>
            </a:pPr>
            <a:endParaRPr lang="en-US" sz="3261" b="1" u="sng">
              <a:solidFill>
                <a:srgbClr val="000000"/>
              </a:solidFill>
              <a:latin typeface="Inter Bold"/>
              <a:ea typeface="Inter Bold"/>
              <a:cs typeface="Inter Bold"/>
              <a:sym typeface="Inter Bold"/>
            </a:endParaRPr>
          </a:p>
          <a:p>
            <a:pPr algn="ctr">
              <a:lnSpc>
                <a:spcPts val="4426"/>
              </a:lnSpc>
              <a:spcBef>
                <a:spcPct val="0"/>
              </a:spcBef>
            </a:pPr>
            <a:r>
              <a:rPr lang="en-US" sz="3161" b="1">
                <a:solidFill>
                  <a:srgbClr val="000000"/>
                </a:solidFill>
                <a:latin typeface="Inter Medium"/>
                <a:ea typeface="Inter Medium"/>
                <a:cs typeface="Inter Medium"/>
                <a:sym typeface="Inter Medium"/>
              </a:rPr>
              <a:t>Python</a:t>
            </a:r>
          </a:p>
          <a:p>
            <a:pPr algn="ctr">
              <a:lnSpc>
                <a:spcPts val="4426"/>
              </a:lnSpc>
              <a:spcBef>
                <a:spcPct val="0"/>
              </a:spcBef>
            </a:pPr>
            <a:r>
              <a:rPr lang="en-US" sz="3161" b="1">
                <a:solidFill>
                  <a:srgbClr val="000000"/>
                </a:solidFill>
                <a:latin typeface="Inter Medium"/>
                <a:ea typeface="Inter Medium"/>
                <a:cs typeface="Inter Medium"/>
                <a:sym typeface="Inter Medium"/>
              </a:rPr>
              <a:t>Pandas</a:t>
            </a:r>
          </a:p>
          <a:p>
            <a:pPr algn="ctr">
              <a:lnSpc>
                <a:spcPts val="4426"/>
              </a:lnSpc>
              <a:spcBef>
                <a:spcPct val="0"/>
              </a:spcBef>
            </a:pPr>
            <a:r>
              <a:rPr lang="en-US" sz="3161" b="1">
                <a:solidFill>
                  <a:srgbClr val="000000"/>
                </a:solidFill>
                <a:latin typeface="Inter Medium"/>
                <a:ea typeface="Inter Medium"/>
                <a:cs typeface="Inter Medium"/>
                <a:sym typeface="Inter Medium"/>
              </a:rPr>
              <a:t>NumPy</a:t>
            </a:r>
          </a:p>
          <a:p>
            <a:pPr algn="ctr">
              <a:lnSpc>
                <a:spcPts val="4426"/>
              </a:lnSpc>
              <a:spcBef>
                <a:spcPct val="0"/>
              </a:spcBef>
            </a:pPr>
            <a:r>
              <a:rPr lang="en-US" sz="3161" b="1">
                <a:solidFill>
                  <a:srgbClr val="000000"/>
                </a:solidFill>
                <a:latin typeface="Inter Medium"/>
                <a:ea typeface="Inter Medium"/>
                <a:cs typeface="Inter Medium"/>
                <a:sym typeface="Inter Medium"/>
              </a:rPr>
              <a:t>Matplotlib</a:t>
            </a:r>
          </a:p>
          <a:p>
            <a:pPr algn="ctr">
              <a:lnSpc>
                <a:spcPts val="4426"/>
              </a:lnSpc>
              <a:spcBef>
                <a:spcPct val="0"/>
              </a:spcBef>
            </a:pPr>
            <a:r>
              <a:rPr lang="en-US" sz="3161" b="1">
                <a:solidFill>
                  <a:srgbClr val="000000"/>
                </a:solidFill>
                <a:latin typeface="Inter Medium"/>
                <a:ea typeface="Inter Medium"/>
                <a:cs typeface="Inter Medium"/>
                <a:sym typeface="Inter Medium"/>
              </a:rPr>
              <a:t>Seaborn</a:t>
            </a:r>
          </a:p>
          <a:p>
            <a:pPr algn="ctr">
              <a:lnSpc>
                <a:spcPts val="4426"/>
              </a:lnSpc>
              <a:spcBef>
                <a:spcPct val="0"/>
              </a:spcBef>
            </a:pPr>
            <a:r>
              <a:rPr lang="en-US" sz="3161" b="1">
                <a:solidFill>
                  <a:srgbClr val="000000"/>
                </a:solidFill>
                <a:latin typeface="Inter Medium"/>
                <a:ea typeface="Inter Medium"/>
                <a:cs typeface="Inter Medium"/>
                <a:sym typeface="Inter Medium"/>
              </a:rPr>
              <a:t>Plotly</a:t>
            </a:r>
          </a:p>
          <a:p>
            <a:pPr algn="ctr">
              <a:lnSpc>
                <a:spcPts val="4426"/>
              </a:lnSpc>
              <a:spcBef>
                <a:spcPct val="0"/>
              </a:spcBef>
            </a:pPr>
            <a:r>
              <a:rPr lang="en-US" sz="3161" b="1">
                <a:solidFill>
                  <a:srgbClr val="000000"/>
                </a:solidFill>
                <a:latin typeface="Inter Medium"/>
                <a:ea typeface="Inter Medium"/>
                <a:cs typeface="Inter Medium"/>
                <a:sym typeface="Inter Medium"/>
              </a:rPr>
              <a:t>SciPy</a:t>
            </a:r>
          </a:p>
          <a:p>
            <a:pPr algn="ctr">
              <a:lnSpc>
                <a:spcPts val="4426"/>
              </a:lnSpc>
              <a:spcBef>
                <a:spcPct val="0"/>
              </a:spcBef>
            </a:pPr>
            <a:r>
              <a:rPr lang="en-US" sz="3161" b="1">
                <a:solidFill>
                  <a:srgbClr val="000000"/>
                </a:solidFill>
                <a:latin typeface="Inter Medium"/>
                <a:ea typeface="Inter Medium"/>
                <a:cs typeface="Inter Medium"/>
                <a:sym typeface="Inter Medium"/>
              </a:rPr>
              <a:t>Stats models</a:t>
            </a:r>
          </a:p>
          <a:p>
            <a:pPr algn="ctr">
              <a:lnSpc>
                <a:spcPts val="4426"/>
              </a:lnSpc>
              <a:spcBef>
                <a:spcPct val="0"/>
              </a:spcBef>
            </a:pPr>
            <a:r>
              <a:rPr lang="en-US" sz="3161" b="1">
                <a:solidFill>
                  <a:srgbClr val="000000"/>
                </a:solidFill>
                <a:latin typeface="Inter Medium"/>
                <a:ea typeface="Inter Medium"/>
                <a:cs typeface="Inter Medium"/>
                <a:sym typeface="Inter Medium"/>
              </a:rPr>
              <a:t>Google Colab</a:t>
            </a:r>
          </a:p>
          <a:p>
            <a:pPr algn="ctr">
              <a:lnSpc>
                <a:spcPts val="4706"/>
              </a:lnSpc>
              <a:spcBef>
                <a:spcPct val="0"/>
              </a:spcBef>
            </a:pPr>
            <a:endParaRPr lang="en-US" sz="3161" b="1">
              <a:solidFill>
                <a:srgbClr val="000000"/>
              </a:solidFill>
              <a:latin typeface="Inter Medium"/>
              <a:ea typeface="Inter Medium"/>
              <a:cs typeface="Inter Medium"/>
              <a:sym typeface="Inter Medium"/>
            </a:endParaRPr>
          </a:p>
        </p:txBody>
      </p:sp>
      <p:sp>
        <p:nvSpPr>
          <p:cNvPr id="9" name="Freeform 9"/>
          <p:cNvSpPr/>
          <p:nvPr/>
        </p:nvSpPr>
        <p:spPr>
          <a:xfrm>
            <a:off x="13245263" y="-454666"/>
            <a:ext cx="5369650" cy="2966732"/>
          </a:xfrm>
          <a:custGeom>
            <a:avLst/>
            <a:gdLst/>
            <a:ahLst/>
            <a:cxnLst/>
            <a:rect l="l" t="t" r="r" b="b"/>
            <a:pathLst>
              <a:path w="5369650" h="2966732">
                <a:moveTo>
                  <a:pt x="0" y="0"/>
                </a:moveTo>
                <a:lnTo>
                  <a:pt x="5369650" y="0"/>
                </a:lnTo>
                <a:lnTo>
                  <a:pt x="5369650" y="2966732"/>
                </a:lnTo>
                <a:lnTo>
                  <a:pt x="0" y="2966732"/>
                </a:lnTo>
                <a:lnTo>
                  <a:pt x="0" y="0"/>
                </a:lnTo>
                <a:close/>
              </a:path>
            </a:pathLst>
          </a:custGeom>
          <a:blipFill>
            <a:blip r:embed="rId2"/>
            <a:stretch>
              <a:fillRect/>
            </a:stretch>
          </a:blipFill>
        </p:spPr>
        <p:txBody>
          <a:bodyPr/>
          <a:lstStyle/>
          <a:p>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83087" y="480511"/>
            <a:ext cx="12959790" cy="1962150"/>
          </a:xfrm>
          <a:prstGeom prst="rect">
            <a:avLst/>
          </a:prstGeom>
        </p:spPr>
        <p:txBody>
          <a:bodyPr lIns="0" tIns="0" rIns="0" bIns="0" rtlCol="0" anchor="t">
            <a:spAutoFit/>
          </a:bodyPr>
          <a:lstStyle/>
          <a:p>
            <a:pPr algn="l">
              <a:lnSpc>
                <a:spcPts val="7797"/>
              </a:lnSpc>
            </a:pPr>
            <a:r>
              <a:rPr lang="en-US" sz="6497" b="1" u="sng">
                <a:solidFill>
                  <a:srgbClr val="000000"/>
                </a:solidFill>
                <a:latin typeface="Bricolage Grotesque Bold"/>
                <a:ea typeface="Bricolage Grotesque Bold"/>
                <a:cs typeface="Bricolage Grotesque Bold"/>
                <a:sym typeface="Bricolage Grotesque Bold"/>
              </a:rPr>
              <a:t>DATA CLEANING &amp; WORKFLOW:</a:t>
            </a:r>
          </a:p>
          <a:p>
            <a:pPr algn="l">
              <a:lnSpc>
                <a:spcPts val="7797"/>
              </a:lnSpc>
            </a:pPr>
            <a:endParaRPr lang="en-US" sz="6497" b="1" u="sng">
              <a:solidFill>
                <a:srgbClr val="000000"/>
              </a:solidFill>
              <a:latin typeface="Bricolage Grotesque Bold"/>
              <a:ea typeface="Bricolage Grotesque Bold"/>
              <a:cs typeface="Bricolage Grotesque Bold"/>
              <a:sym typeface="Bricolage Grotesque Bold"/>
            </a:endParaRPr>
          </a:p>
        </p:txBody>
      </p:sp>
      <p:sp>
        <p:nvSpPr>
          <p:cNvPr id="4" name="TextBox 4"/>
          <p:cNvSpPr txBox="1"/>
          <p:nvPr/>
        </p:nvSpPr>
        <p:spPr>
          <a:xfrm>
            <a:off x="1028700" y="1791908"/>
            <a:ext cx="11500841" cy="5985989"/>
          </a:xfrm>
          <a:prstGeom prst="rect">
            <a:avLst/>
          </a:prstGeom>
        </p:spPr>
        <p:txBody>
          <a:bodyPr lIns="0" tIns="0" rIns="0" bIns="0" rtlCol="0" anchor="t">
            <a:spAutoFit/>
          </a:bodyPr>
          <a:lstStyle/>
          <a:p>
            <a:pPr algn="l">
              <a:lnSpc>
                <a:spcPts val="5433"/>
              </a:lnSpc>
            </a:pPr>
            <a:r>
              <a:rPr lang="en-US" sz="3881" b="1" u="sng">
                <a:solidFill>
                  <a:srgbClr val="000000"/>
                </a:solidFill>
                <a:latin typeface="Inter Bold"/>
                <a:ea typeface="Inter Bold"/>
                <a:cs typeface="Inter Bold"/>
                <a:sym typeface="Inter Bold"/>
              </a:rPr>
              <a:t>Cleaning Done:</a:t>
            </a:r>
          </a:p>
          <a:p>
            <a:pPr algn="ctr">
              <a:lnSpc>
                <a:spcPts val="4453"/>
              </a:lnSpc>
            </a:pPr>
            <a:endParaRPr lang="en-US" sz="3881" b="1" u="sng">
              <a:solidFill>
                <a:srgbClr val="000000"/>
              </a:solidFill>
              <a:latin typeface="Inter Bold"/>
              <a:ea typeface="Inter Bold"/>
              <a:cs typeface="Inter Bold"/>
              <a:sym typeface="Inter Bold"/>
            </a:endParaRPr>
          </a:p>
          <a:p>
            <a:pPr marL="708404" lvl="1" indent="-354202" algn="l">
              <a:lnSpc>
                <a:spcPts val="5479"/>
              </a:lnSpc>
              <a:buFont typeface="Arial"/>
              <a:buChar char="•"/>
            </a:pPr>
            <a:r>
              <a:rPr lang="en-US" sz="3281">
                <a:solidFill>
                  <a:srgbClr val="000000"/>
                </a:solidFill>
                <a:latin typeface="Glacial Indifference"/>
                <a:ea typeface="Glacial Indifference"/>
                <a:cs typeface="Glacial Indifference"/>
                <a:sym typeface="Glacial Indifference"/>
              </a:rPr>
              <a:t> Filled missing Sleep Disorder values</a:t>
            </a:r>
          </a:p>
          <a:p>
            <a:pPr marL="708404" lvl="1" indent="-354202" algn="l">
              <a:lnSpc>
                <a:spcPts val="5479"/>
              </a:lnSpc>
              <a:buFont typeface="Arial"/>
              <a:buChar char="•"/>
            </a:pPr>
            <a:r>
              <a:rPr lang="en-US" sz="3281">
                <a:solidFill>
                  <a:srgbClr val="000000"/>
                </a:solidFill>
                <a:latin typeface="Glacial Indifference"/>
                <a:ea typeface="Glacial Indifference"/>
                <a:cs typeface="Glacial Indifference"/>
                <a:sym typeface="Glacial Indifference"/>
              </a:rPr>
              <a:t> Split Blood Pressure</a:t>
            </a:r>
          </a:p>
          <a:p>
            <a:pPr marL="708404" lvl="1" indent="-354202" algn="l">
              <a:lnSpc>
                <a:spcPts val="5479"/>
              </a:lnSpc>
              <a:buFont typeface="Arial"/>
              <a:buChar char="•"/>
            </a:pPr>
            <a:r>
              <a:rPr lang="en-US" sz="3281">
                <a:solidFill>
                  <a:srgbClr val="000000"/>
                </a:solidFill>
                <a:latin typeface="Glacial Indifference"/>
                <a:ea typeface="Glacial Indifference"/>
                <a:cs typeface="Glacial Indifference"/>
                <a:sym typeface="Glacial Indifference"/>
              </a:rPr>
              <a:t> Removed duplicates</a:t>
            </a:r>
          </a:p>
          <a:p>
            <a:pPr marL="708404" lvl="1" indent="-354202" algn="l">
              <a:lnSpc>
                <a:spcPts val="5479"/>
              </a:lnSpc>
              <a:buFont typeface="Arial"/>
              <a:buChar char="•"/>
            </a:pPr>
            <a:r>
              <a:rPr lang="en-US" sz="3281">
                <a:solidFill>
                  <a:srgbClr val="000000"/>
                </a:solidFill>
                <a:latin typeface="Glacial Indifference"/>
                <a:ea typeface="Glacial Indifference"/>
                <a:cs typeface="Glacial Indifference"/>
                <a:sym typeface="Glacial Indifference"/>
              </a:rPr>
              <a:t>Identified outliers</a:t>
            </a:r>
          </a:p>
          <a:p>
            <a:pPr marL="708404" lvl="1" indent="-354202" algn="l">
              <a:lnSpc>
                <a:spcPts val="5479"/>
              </a:lnSpc>
              <a:buFont typeface="Arial"/>
              <a:buChar char="•"/>
            </a:pPr>
            <a:r>
              <a:rPr lang="en-US" sz="3281">
                <a:solidFill>
                  <a:srgbClr val="000000"/>
                </a:solidFill>
                <a:latin typeface="Glacial Indifference"/>
                <a:ea typeface="Glacial Indifference"/>
                <a:cs typeface="Glacial Indifference"/>
                <a:sym typeface="Glacial Indifference"/>
              </a:rPr>
              <a:t> Converted categorical columns</a:t>
            </a:r>
          </a:p>
          <a:p>
            <a:pPr marL="708404" lvl="1" indent="-354202" algn="l">
              <a:lnSpc>
                <a:spcPts val="5479"/>
              </a:lnSpc>
              <a:buFont typeface="Arial"/>
              <a:buChar char="•"/>
            </a:pPr>
            <a:r>
              <a:rPr lang="en-US" sz="3281">
                <a:solidFill>
                  <a:srgbClr val="000000"/>
                </a:solidFill>
                <a:latin typeface="Glacial Indifference"/>
                <a:ea typeface="Glacial Indifference"/>
                <a:cs typeface="Glacial Indifference"/>
                <a:sym typeface="Glacial Indifference"/>
              </a:rPr>
              <a:t> Standardized BMI labels</a:t>
            </a:r>
          </a:p>
          <a:p>
            <a:pPr algn="l">
              <a:lnSpc>
                <a:spcPts val="4593"/>
              </a:lnSpc>
            </a:pPr>
            <a:endParaRPr lang="en-US" sz="3281">
              <a:solidFill>
                <a:srgbClr val="000000"/>
              </a:solidFill>
              <a:latin typeface="Glacial Indifference"/>
              <a:ea typeface="Glacial Indifference"/>
              <a:cs typeface="Glacial Indifference"/>
              <a:sym typeface="Glacial Indifference"/>
            </a:endParaRPr>
          </a:p>
        </p:txBody>
      </p:sp>
      <p:sp>
        <p:nvSpPr>
          <p:cNvPr id="5" name="TextBox 5"/>
          <p:cNvSpPr txBox="1"/>
          <p:nvPr/>
        </p:nvSpPr>
        <p:spPr>
          <a:xfrm>
            <a:off x="8959619" y="1542737"/>
            <a:ext cx="5938891" cy="7552721"/>
          </a:xfrm>
          <a:prstGeom prst="rect">
            <a:avLst/>
          </a:prstGeom>
        </p:spPr>
        <p:txBody>
          <a:bodyPr lIns="0" tIns="0" rIns="0" bIns="0" rtlCol="0" anchor="t">
            <a:spAutoFit/>
          </a:bodyPr>
          <a:lstStyle/>
          <a:p>
            <a:pPr algn="ctr">
              <a:lnSpc>
                <a:spcPts val="5025"/>
              </a:lnSpc>
              <a:spcBef>
                <a:spcPct val="0"/>
              </a:spcBef>
            </a:pPr>
            <a:r>
              <a:rPr lang="en-US" sz="3589" b="1" u="sng">
                <a:solidFill>
                  <a:srgbClr val="000000"/>
                </a:solidFill>
                <a:latin typeface="Inter Bold"/>
                <a:ea typeface="Inter Bold"/>
                <a:cs typeface="Inter Bold"/>
                <a:sym typeface="Inter Bold"/>
              </a:rPr>
              <a:t>Workflow:</a:t>
            </a:r>
          </a:p>
          <a:p>
            <a:pPr algn="ctr">
              <a:lnSpc>
                <a:spcPts val="3964"/>
              </a:lnSpc>
              <a:spcBef>
                <a:spcPct val="0"/>
              </a:spcBef>
            </a:pPr>
            <a:endParaRPr lang="en-US" sz="3589" b="1" u="sng">
              <a:solidFill>
                <a:srgbClr val="000000"/>
              </a:solidFill>
              <a:latin typeface="Inter Bold"/>
              <a:ea typeface="Inter Bold"/>
              <a:cs typeface="Inter Bold"/>
              <a:sym typeface="Inter Bold"/>
            </a:endParaRPr>
          </a:p>
          <a:p>
            <a:pPr algn="ctr">
              <a:lnSpc>
                <a:spcPts val="3964"/>
              </a:lnSpc>
              <a:spcBef>
                <a:spcPct val="0"/>
              </a:spcBef>
            </a:pPr>
            <a:r>
              <a:rPr lang="en-US" sz="2831">
                <a:solidFill>
                  <a:srgbClr val="000000"/>
                </a:solidFill>
                <a:latin typeface="Glacial Indifference"/>
                <a:ea typeface="Glacial Indifference"/>
                <a:cs typeface="Glacial Indifference"/>
                <a:sym typeface="Glacial Indifference"/>
              </a:rPr>
              <a:t>Load Dataset</a:t>
            </a:r>
          </a:p>
          <a:p>
            <a:pPr algn="ctr">
              <a:lnSpc>
                <a:spcPts val="3964"/>
              </a:lnSpc>
              <a:spcBef>
                <a:spcPct val="0"/>
              </a:spcBef>
            </a:pPr>
            <a:r>
              <a:rPr lang="en-US" sz="2831">
                <a:solidFill>
                  <a:srgbClr val="000000"/>
                </a:solidFill>
                <a:latin typeface="Glacial Indifference"/>
                <a:ea typeface="Glacial Indifference"/>
                <a:cs typeface="Glacial Indifference"/>
                <a:sym typeface="Glacial Indifference"/>
              </a:rPr>
              <a:t>↓</a:t>
            </a:r>
          </a:p>
          <a:p>
            <a:pPr algn="ctr">
              <a:lnSpc>
                <a:spcPts val="3964"/>
              </a:lnSpc>
              <a:spcBef>
                <a:spcPct val="0"/>
              </a:spcBef>
            </a:pPr>
            <a:r>
              <a:rPr lang="en-US" sz="2831">
                <a:solidFill>
                  <a:srgbClr val="000000"/>
                </a:solidFill>
                <a:latin typeface="Glacial Indifference"/>
                <a:ea typeface="Glacial Indifference"/>
                <a:cs typeface="Glacial Indifference"/>
                <a:sym typeface="Glacial Indifference"/>
              </a:rPr>
              <a:t>Explore Data</a:t>
            </a:r>
          </a:p>
          <a:p>
            <a:pPr algn="ctr">
              <a:lnSpc>
                <a:spcPts val="3964"/>
              </a:lnSpc>
              <a:spcBef>
                <a:spcPct val="0"/>
              </a:spcBef>
            </a:pPr>
            <a:r>
              <a:rPr lang="en-US" sz="2831">
                <a:solidFill>
                  <a:srgbClr val="000000"/>
                </a:solidFill>
                <a:latin typeface="Glacial Indifference"/>
                <a:ea typeface="Glacial Indifference"/>
                <a:cs typeface="Glacial Indifference"/>
                <a:sym typeface="Glacial Indifference"/>
              </a:rPr>
              <a:t>↓</a:t>
            </a:r>
          </a:p>
          <a:p>
            <a:pPr algn="ctr">
              <a:lnSpc>
                <a:spcPts val="3964"/>
              </a:lnSpc>
              <a:spcBef>
                <a:spcPct val="0"/>
              </a:spcBef>
            </a:pPr>
            <a:r>
              <a:rPr lang="en-US" sz="2831">
                <a:solidFill>
                  <a:srgbClr val="000000"/>
                </a:solidFill>
                <a:latin typeface="Glacial Indifference"/>
                <a:ea typeface="Glacial Indifference"/>
                <a:cs typeface="Glacial Indifference"/>
                <a:sym typeface="Glacial Indifference"/>
              </a:rPr>
              <a:t>Clean Data</a:t>
            </a:r>
          </a:p>
          <a:p>
            <a:pPr algn="ctr">
              <a:lnSpc>
                <a:spcPts val="3964"/>
              </a:lnSpc>
              <a:spcBef>
                <a:spcPct val="0"/>
              </a:spcBef>
            </a:pPr>
            <a:r>
              <a:rPr lang="en-US" sz="2831">
                <a:solidFill>
                  <a:srgbClr val="000000"/>
                </a:solidFill>
                <a:latin typeface="Glacial Indifference"/>
                <a:ea typeface="Glacial Indifference"/>
                <a:cs typeface="Glacial Indifference"/>
                <a:sym typeface="Glacial Indifference"/>
              </a:rPr>
              <a:t>↓</a:t>
            </a:r>
          </a:p>
          <a:p>
            <a:pPr algn="ctr">
              <a:lnSpc>
                <a:spcPts val="3964"/>
              </a:lnSpc>
              <a:spcBef>
                <a:spcPct val="0"/>
              </a:spcBef>
            </a:pPr>
            <a:r>
              <a:rPr lang="en-US" sz="2831">
                <a:solidFill>
                  <a:srgbClr val="000000"/>
                </a:solidFill>
                <a:latin typeface="Glacial Indifference"/>
                <a:ea typeface="Glacial Indifference"/>
                <a:cs typeface="Glacial Indifference"/>
                <a:sym typeface="Glacial Indifference"/>
              </a:rPr>
              <a:t>EDA</a:t>
            </a:r>
          </a:p>
          <a:p>
            <a:pPr algn="ctr">
              <a:lnSpc>
                <a:spcPts val="3964"/>
              </a:lnSpc>
              <a:spcBef>
                <a:spcPct val="0"/>
              </a:spcBef>
            </a:pPr>
            <a:r>
              <a:rPr lang="en-US" sz="2831">
                <a:solidFill>
                  <a:srgbClr val="000000"/>
                </a:solidFill>
                <a:latin typeface="Glacial Indifference"/>
                <a:ea typeface="Glacial Indifference"/>
                <a:cs typeface="Glacial Indifference"/>
                <a:sym typeface="Glacial Indifference"/>
              </a:rPr>
              <a:t>↓</a:t>
            </a:r>
          </a:p>
          <a:p>
            <a:pPr algn="ctr">
              <a:lnSpc>
                <a:spcPts val="3964"/>
              </a:lnSpc>
              <a:spcBef>
                <a:spcPct val="0"/>
              </a:spcBef>
            </a:pPr>
            <a:r>
              <a:rPr lang="en-US" sz="2831">
                <a:solidFill>
                  <a:srgbClr val="000000"/>
                </a:solidFill>
                <a:latin typeface="Glacial Indifference"/>
                <a:ea typeface="Glacial Indifference"/>
                <a:cs typeface="Glacial Indifference"/>
                <a:sym typeface="Glacial Indifference"/>
              </a:rPr>
              <a:t>Statistical Analysis</a:t>
            </a:r>
          </a:p>
          <a:p>
            <a:pPr algn="ctr">
              <a:lnSpc>
                <a:spcPts val="3964"/>
              </a:lnSpc>
              <a:spcBef>
                <a:spcPct val="0"/>
              </a:spcBef>
            </a:pPr>
            <a:r>
              <a:rPr lang="en-US" sz="2831">
                <a:solidFill>
                  <a:srgbClr val="000000"/>
                </a:solidFill>
                <a:latin typeface="Glacial Indifference"/>
                <a:ea typeface="Glacial Indifference"/>
                <a:cs typeface="Glacial Indifference"/>
                <a:sym typeface="Glacial Indifference"/>
              </a:rPr>
              <a:t>↓</a:t>
            </a:r>
          </a:p>
          <a:p>
            <a:pPr algn="ctr">
              <a:lnSpc>
                <a:spcPts val="3964"/>
              </a:lnSpc>
              <a:spcBef>
                <a:spcPct val="0"/>
              </a:spcBef>
            </a:pPr>
            <a:r>
              <a:rPr lang="en-US" sz="2831">
                <a:solidFill>
                  <a:srgbClr val="000000"/>
                </a:solidFill>
                <a:latin typeface="Glacial Indifference"/>
                <a:ea typeface="Glacial Indifference"/>
                <a:cs typeface="Glacial Indifference"/>
                <a:sym typeface="Glacial Indifference"/>
              </a:rPr>
              <a:t>Visualization</a:t>
            </a:r>
          </a:p>
          <a:p>
            <a:pPr algn="ctr">
              <a:lnSpc>
                <a:spcPts val="3964"/>
              </a:lnSpc>
              <a:spcBef>
                <a:spcPct val="0"/>
              </a:spcBef>
            </a:pPr>
            <a:r>
              <a:rPr lang="en-US" sz="2831">
                <a:solidFill>
                  <a:srgbClr val="000000"/>
                </a:solidFill>
                <a:latin typeface="Glacial Indifference"/>
                <a:ea typeface="Glacial Indifference"/>
                <a:cs typeface="Glacial Indifference"/>
                <a:sym typeface="Glacial Indifference"/>
              </a:rPr>
              <a:t>↓</a:t>
            </a:r>
          </a:p>
          <a:p>
            <a:pPr algn="ctr">
              <a:lnSpc>
                <a:spcPts val="3964"/>
              </a:lnSpc>
              <a:spcBef>
                <a:spcPct val="0"/>
              </a:spcBef>
            </a:pPr>
            <a:r>
              <a:rPr lang="en-US" sz="2831">
                <a:solidFill>
                  <a:srgbClr val="000000"/>
                </a:solidFill>
                <a:latin typeface="Glacial Indifference"/>
                <a:ea typeface="Glacial Indifference"/>
                <a:cs typeface="Glacial Indifference"/>
                <a:sym typeface="Glacial Indifference"/>
              </a:rPr>
              <a:t>Conclusion</a:t>
            </a:r>
          </a:p>
        </p:txBody>
      </p:sp>
      <p:sp>
        <p:nvSpPr>
          <p:cNvPr id="6" name="Freeform 6"/>
          <p:cNvSpPr/>
          <p:nvPr/>
        </p:nvSpPr>
        <p:spPr>
          <a:xfrm>
            <a:off x="13245263" y="-454666"/>
            <a:ext cx="5369650" cy="2966732"/>
          </a:xfrm>
          <a:custGeom>
            <a:avLst/>
            <a:gdLst/>
            <a:ahLst/>
            <a:cxnLst/>
            <a:rect l="l" t="t" r="r" b="b"/>
            <a:pathLst>
              <a:path w="5369650" h="2966732">
                <a:moveTo>
                  <a:pt x="0" y="0"/>
                </a:moveTo>
                <a:lnTo>
                  <a:pt x="5369650" y="0"/>
                </a:lnTo>
                <a:lnTo>
                  <a:pt x="5369650" y="2966732"/>
                </a:lnTo>
                <a:lnTo>
                  <a:pt x="0" y="2966732"/>
                </a:lnTo>
                <a:lnTo>
                  <a:pt x="0" y="0"/>
                </a:lnTo>
                <a:close/>
              </a:path>
            </a:pathLst>
          </a:custGeom>
          <a:blipFill>
            <a:blip r:embed="rId2"/>
            <a:stretch>
              <a:fillRect/>
            </a:stretch>
          </a:blipFill>
        </p:spPr>
        <p:txBody>
          <a:bodyPr/>
          <a:lstStyle/>
          <a:p>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606541" y="591632"/>
            <a:ext cx="11033495" cy="1943100"/>
          </a:xfrm>
          <a:prstGeom prst="rect">
            <a:avLst/>
          </a:prstGeom>
        </p:spPr>
        <p:txBody>
          <a:bodyPr lIns="0" tIns="0" rIns="0" bIns="0" rtlCol="0" anchor="t">
            <a:spAutoFit/>
          </a:bodyPr>
          <a:lstStyle/>
          <a:p>
            <a:pPr algn="l">
              <a:lnSpc>
                <a:spcPts val="7679"/>
              </a:lnSpc>
            </a:pPr>
            <a:r>
              <a:rPr lang="en-US" sz="6399" b="1" u="sng">
                <a:solidFill>
                  <a:srgbClr val="000000"/>
                </a:solidFill>
                <a:latin typeface="Bricolage Grotesque Bold"/>
                <a:ea typeface="Bricolage Grotesque Bold"/>
                <a:cs typeface="Bricolage Grotesque Bold"/>
                <a:sym typeface="Bricolage Grotesque Bold"/>
              </a:rPr>
              <a:t>IMPLEMENTATION PLAN:</a:t>
            </a:r>
          </a:p>
          <a:p>
            <a:pPr algn="l">
              <a:lnSpc>
                <a:spcPts val="7679"/>
              </a:lnSpc>
            </a:pPr>
            <a:endParaRPr lang="en-US" sz="6399" b="1" u="sng">
              <a:solidFill>
                <a:srgbClr val="000000"/>
              </a:solidFill>
              <a:latin typeface="Bricolage Grotesque Bold"/>
              <a:ea typeface="Bricolage Grotesque Bold"/>
              <a:cs typeface="Bricolage Grotesque Bold"/>
              <a:sym typeface="Bricolage Grotesque Bold"/>
            </a:endParaRPr>
          </a:p>
        </p:txBody>
      </p:sp>
      <p:sp>
        <p:nvSpPr>
          <p:cNvPr id="4" name="Freeform 4"/>
          <p:cNvSpPr/>
          <p:nvPr/>
        </p:nvSpPr>
        <p:spPr>
          <a:xfrm>
            <a:off x="13245263" y="-454666"/>
            <a:ext cx="5369650" cy="2966732"/>
          </a:xfrm>
          <a:custGeom>
            <a:avLst/>
            <a:gdLst/>
            <a:ahLst/>
            <a:cxnLst/>
            <a:rect l="l" t="t" r="r" b="b"/>
            <a:pathLst>
              <a:path w="5369650" h="2966732">
                <a:moveTo>
                  <a:pt x="0" y="0"/>
                </a:moveTo>
                <a:lnTo>
                  <a:pt x="5369650" y="0"/>
                </a:lnTo>
                <a:lnTo>
                  <a:pt x="5369650" y="2966732"/>
                </a:lnTo>
                <a:lnTo>
                  <a:pt x="0" y="2966732"/>
                </a:lnTo>
                <a:lnTo>
                  <a:pt x="0" y="0"/>
                </a:lnTo>
                <a:close/>
              </a:path>
            </a:pathLst>
          </a:custGeom>
          <a:blipFill>
            <a:blip r:embed="rId2"/>
            <a:stretch>
              <a:fillRect/>
            </a:stretch>
          </a:blipFill>
        </p:spPr>
        <p:txBody>
          <a:bodyPr/>
          <a:lstStyle/>
          <a:p>
            <a:endParaRPr lang="en-IN"/>
          </a:p>
        </p:txBody>
      </p:sp>
      <p:sp>
        <p:nvSpPr>
          <p:cNvPr id="5" name="AutoShape 5"/>
          <p:cNvSpPr/>
          <p:nvPr/>
        </p:nvSpPr>
        <p:spPr>
          <a:xfrm flipV="1">
            <a:off x="6773432" y="2457868"/>
            <a:ext cx="14288" cy="6800402"/>
          </a:xfrm>
          <a:prstGeom prst="line">
            <a:avLst/>
          </a:prstGeom>
          <a:ln w="28575" cap="flat">
            <a:solidFill>
              <a:srgbClr val="000000"/>
            </a:solidFill>
            <a:prstDash val="solid"/>
            <a:headEnd type="none" w="sm" len="sm"/>
            <a:tailEnd type="none" w="sm" len="sm"/>
          </a:ln>
        </p:spPr>
        <p:txBody>
          <a:bodyPr/>
          <a:lstStyle/>
          <a:p>
            <a:endParaRPr lang="en-IN"/>
          </a:p>
        </p:txBody>
      </p:sp>
      <p:sp>
        <p:nvSpPr>
          <p:cNvPr id="6" name="TextBox 6"/>
          <p:cNvSpPr txBox="1"/>
          <p:nvPr/>
        </p:nvSpPr>
        <p:spPr>
          <a:xfrm>
            <a:off x="894117" y="1727290"/>
            <a:ext cx="5680211" cy="8029997"/>
          </a:xfrm>
          <a:prstGeom prst="rect">
            <a:avLst/>
          </a:prstGeom>
        </p:spPr>
        <p:txBody>
          <a:bodyPr lIns="0" tIns="0" rIns="0" bIns="0" rtlCol="0" anchor="t">
            <a:spAutoFit/>
          </a:bodyPr>
          <a:lstStyle/>
          <a:p>
            <a:pPr algn="l">
              <a:lnSpc>
                <a:spcPts val="3931"/>
              </a:lnSpc>
              <a:spcBef>
                <a:spcPct val="0"/>
              </a:spcBef>
            </a:pPr>
            <a:r>
              <a:rPr lang="en-US" sz="2808" b="1" u="sng" dirty="0">
                <a:solidFill>
                  <a:srgbClr val="000000"/>
                </a:solidFill>
                <a:latin typeface="Inter Bold"/>
                <a:ea typeface="Inter Bold"/>
                <a:cs typeface="Inter Bold"/>
                <a:sym typeface="Inter Bold"/>
              </a:rPr>
              <a:t>Project Workflow:</a:t>
            </a:r>
          </a:p>
          <a:p>
            <a:pPr algn="ctr">
              <a:lnSpc>
                <a:spcPts val="3371"/>
              </a:lnSpc>
              <a:spcBef>
                <a:spcPct val="0"/>
              </a:spcBef>
            </a:pPr>
            <a:r>
              <a:rPr lang="en-US" sz="2408" b="1" dirty="0">
                <a:solidFill>
                  <a:srgbClr val="000000"/>
                </a:solidFill>
                <a:latin typeface="Inter Medium"/>
                <a:ea typeface="Inter Medium"/>
                <a:cs typeface="Inter Medium"/>
                <a:sym typeface="Inter Medium"/>
              </a:rPr>
              <a:t>Dataset Collection</a:t>
            </a:r>
          </a:p>
          <a:p>
            <a:pPr algn="ctr">
              <a:lnSpc>
                <a:spcPts val="3371"/>
              </a:lnSpc>
              <a:spcBef>
                <a:spcPct val="0"/>
              </a:spcBef>
            </a:pPr>
            <a:r>
              <a:rPr lang="en-US" sz="2408" b="1" dirty="0">
                <a:solidFill>
                  <a:srgbClr val="000000"/>
                </a:solidFill>
                <a:latin typeface="Inter Medium"/>
                <a:ea typeface="Inter Medium"/>
                <a:cs typeface="Inter Medium"/>
                <a:sym typeface="Inter Medium"/>
              </a:rPr>
              <a:t>       ↓</a:t>
            </a:r>
          </a:p>
          <a:p>
            <a:pPr algn="ctr">
              <a:lnSpc>
                <a:spcPts val="3371"/>
              </a:lnSpc>
              <a:spcBef>
                <a:spcPct val="0"/>
              </a:spcBef>
            </a:pPr>
            <a:r>
              <a:rPr lang="en-US" sz="2408" b="1" dirty="0">
                <a:solidFill>
                  <a:srgbClr val="000000"/>
                </a:solidFill>
                <a:latin typeface="Inter Medium"/>
                <a:ea typeface="Inter Medium"/>
                <a:cs typeface="Inter Medium"/>
                <a:sym typeface="Inter Medium"/>
              </a:rPr>
              <a:t>Data Loading</a:t>
            </a:r>
          </a:p>
          <a:p>
            <a:pPr algn="ctr">
              <a:lnSpc>
                <a:spcPts val="3371"/>
              </a:lnSpc>
              <a:spcBef>
                <a:spcPct val="0"/>
              </a:spcBef>
            </a:pPr>
            <a:r>
              <a:rPr lang="en-US" sz="2408" b="1" dirty="0">
                <a:solidFill>
                  <a:srgbClr val="000000"/>
                </a:solidFill>
                <a:latin typeface="Inter Medium"/>
                <a:ea typeface="Inter Medium"/>
                <a:cs typeface="Inter Medium"/>
                <a:sym typeface="Inter Medium"/>
              </a:rPr>
              <a:t>       ↓</a:t>
            </a:r>
          </a:p>
          <a:p>
            <a:pPr algn="ctr">
              <a:lnSpc>
                <a:spcPts val="3371"/>
              </a:lnSpc>
              <a:spcBef>
                <a:spcPct val="0"/>
              </a:spcBef>
            </a:pPr>
            <a:r>
              <a:rPr lang="en-US" sz="2408" b="1" dirty="0">
                <a:solidFill>
                  <a:srgbClr val="000000"/>
                </a:solidFill>
                <a:latin typeface="Inter Medium"/>
                <a:ea typeface="Inter Medium"/>
                <a:cs typeface="Inter Medium"/>
                <a:sym typeface="Inter Medium"/>
              </a:rPr>
              <a:t>Initial Exploration</a:t>
            </a:r>
          </a:p>
          <a:p>
            <a:pPr algn="ctr">
              <a:lnSpc>
                <a:spcPts val="3371"/>
              </a:lnSpc>
              <a:spcBef>
                <a:spcPct val="0"/>
              </a:spcBef>
            </a:pPr>
            <a:r>
              <a:rPr lang="en-US" sz="2408" b="1" dirty="0">
                <a:solidFill>
                  <a:srgbClr val="000000"/>
                </a:solidFill>
                <a:latin typeface="Inter Medium"/>
                <a:ea typeface="Inter Medium"/>
                <a:cs typeface="Inter Medium"/>
                <a:sym typeface="Inter Medium"/>
              </a:rPr>
              <a:t>       ↓</a:t>
            </a:r>
          </a:p>
          <a:p>
            <a:pPr algn="ctr">
              <a:lnSpc>
                <a:spcPts val="3371"/>
              </a:lnSpc>
              <a:spcBef>
                <a:spcPct val="0"/>
              </a:spcBef>
            </a:pPr>
            <a:r>
              <a:rPr lang="en-US" sz="2408" b="1" dirty="0">
                <a:solidFill>
                  <a:srgbClr val="000000"/>
                </a:solidFill>
                <a:latin typeface="Inter Medium"/>
                <a:ea typeface="Inter Medium"/>
                <a:cs typeface="Inter Medium"/>
                <a:sym typeface="Inter Medium"/>
              </a:rPr>
              <a:t>Data Cleaning</a:t>
            </a:r>
          </a:p>
          <a:p>
            <a:pPr algn="ctr">
              <a:lnSpc>
                <a:spcPts val="3371"/>
              </a:lnSpc>
              <a:spcBef>
                <a:spcPct val="0"/>
              </a:spcBef>
            </a:pPr>
            <a:r>
              <a:rPr lang="en-US" sz="2408" b="1" dirty="0">
                <a:solidFill>
                  <a:srgbClr val="000000"/>
                </a:solidFill>
                <a:latin typeface="Inter Medium"/>
                <a:ea typeface="Inter Medium"/>
                <a:cs typeface="Inter Medium"/>
                <a:sym typeface="Inter Medium"/>
              </a:rPr>
              <a:t>       ↓</a:t>
            </a:r>
          </a:p>
          <a:p>
            <a:pPr algn="ctr">
              <a:lnSpc>
                <a:spcPts val="3371"/>
              </a:lnSpc>
              <a:spcBef>
                <a:spcPct val="0"/>
              </a:spcBef>
            </a:pPr>
            <a:r>
              <a:rPr lang="en-US" sz="2408" b="1" dirty="0">
                <a:solidFill>
                  <a:srgbClr val="000000"/>
                </a:solidFill>
                <a:latin typeface="Inter Medium"/>
                <a:ea typeface="Inter Medium"/>
                <a:cs typeface="Inter Medium"/>
                <a:sym typeface="Inter Medium"/>
              </a:rPr>
              <a:t>Data Preprocessing</a:t>
            </a:r>
          </a:p>
          <a:p>
            <a:pPr algn="ctr">
              <a:lnSpc>
                <a:spcPts val="3371"/>
              </a:lnSpc>
              <a:spcBef>
                <a:spcPct val="0"/>
              </a:spcBef>
            </a:pPr>
            <a:r>
              <a:rPr lang="en-US" sz="2408" b="1" dirty="0">
                <a:solidFill>
                  <a:srgbClr val="000000"/>
                </a:solidFill>
                <a:latin typeface="Inter Medium"/>
                <a:ea typeface="Inter Medium"/>
                <a:cs typeface="Inter Medium"/>
                <a:sym typeface="Inter Medium"/>
              </a:rPr>
              <a:t>       ↓</a:t>
            </a:r>
          </a:p>
          <a:p>
            <a:pPr algn="ctr">
              <a:lnSpc>
                <a:spcPts val="3371"/>
              </a:lnSpc>
              <a:spcBef>
                <a:spcPct val="0"/>
              </a:spcBef>
            </a:pPr>
            <a:r>
              <a:rPr lang="en-US" sz="2408" b="1" dirty="0">
                <a:solidFill>
                  <a:srgbClr val="000000"/>
                </a:solidFill>
                <a:latin typeface="Inter Medium"/>
                <a:ea typeface="Inter Medium"/>
                <a:cs typeface="Inter Medium"/>
                <a:sym typeface="Inter Medium"/>
              </a:rPr>
              <a:t>Exploratory Data Analysis (EDA)</a:t>
            </a:r>
          </a:p>
          <a:p>
            <a:pPr algn="ctr">
              <a:lnSpc>
                <a:spcPts val="3371"/>
              </a:lnSpc>
              <a:spcBef>
                <a:spcPct val="0"/>
              </a:spcBef>
            </a:pPr>
            <a:r>
              <a:rPr lang="en-US" sz="2408" b="1" dirty="0">
                <a:solidFill>
                  <a:srgbClr val="000000"/>
                </a:solidFill>
                <a:latin typeface="Inter Medium"/>
                <a:ea typeface="Inter Medium"/>
                <a:cs typeface="Inter Medium"/>
                <a:sym typeface="Inter Medium"/>
              </a:rPr>
              <a:t>       ↓</a:t>
            </a:r>
          </a:p>
          <a:p>
            <a:pPr algn="ctr">
              <a:lnSpc>
                <a:spcPts val="3371"/>
              </a:lnSpc>
              <a:spcBef>
                <a:spcPct val="0"/>
              </a:spcBef>
            </a:pPr>
            <a:r>
              <a:rPr lang="en-US" sz="2408" b="1" dirty="0">
                <a:solidFill>
                  <a:srgbClr val="000000"/>
                </a:solidFill>
                <a:latin typeface="Inter Medium"/>
                <a:ea typeface="Inter Medium"/>
                <a:cs typeface="Inter Medium"/>
                <a:sym typeface="Inter Medium"/>
              </a:rPr>
              <a:t>Statistical Analysis</a:t>
            </a:r>
          </a:p>
          <a:p>
            <a:pPr algn="ctr">
              <a:lnSpc>
                <a:spcPts val="3371"/>
              </a:lnSpc>
              <a:spcBef>
                <a:spcPct val="0"/>
              </a:spcBef>
            </a:pPr>
            <a:r>
              <a:rPr lang="en-US" sz="2408" b="1" dirty="0">
                <a:solidFill>
                  <a:srgbClr val="000000"/>
                </a:solidFill>
                <a:latin typeface="Inter Medium"/>
                <a:ea typeface="Inter Medium"/>
                <a:cs typeface="Inter Medium"/>
                <a:sym typeface="Inter Medium"/>
              </a:rPr>
              <a:t>       ↓</a:t>
            </a:r>
          </a:p>
          <a:p>
            <a:pPr algn="ctr">
              <a:lnSpc>
                <a:spcPts val="3371"/>
              </a:lnSpc>
              <a:spcBef>
                <a:spcPct val="0"/>
              </a:spcBef>
            </a:pPr>
            <a:r>
              <a:rPr lang="en-US" sz="2408" b="1" dirty="0">
                <a:solidFill>
                  <a:srgbClr val="000000"/>
                </a:solidFill>
                <a:latin typeface="Inter Medium"/>
                <a:ea typeface="Inter Medium"/>
                <a:cs typeface="Inter Medium"/>
                <a:sym typeface="Inter Medium"/>
              </a:rPr>
              <a:t>Data Visualization</a:t>
            </a:r>
          </a:p>
          <a:p>
            <a:pPr algn="ctr">
              <a:lnSpc>
                <a:spcPts val="3371"/>
              </a:lnSpc>
              <a:spcBef>
                <a:spcPct val="0"/>
              </a:spcBef>
            </a:pPr>
            <a:r>
              <a:rPr lang="en-US" sz="2408" b="1" dirty="0">
                <a:solidFill>
                  <a:srgbClr val="000000"/>
                </a:solidFill>
                <a:latin typeface="Inter Medium"/>
                <a:ea typeface="Inter Medium"/>
                <a:cs typeface="Inter Medium"/>
                <a:sym typeface="Inter Medium"/>
              </a:rPr>
              <a:t>       ↓</a:t>
            </a:r>
          </a:p>
          <a:p>
            <a:pPr algn="ctr">
              <a:lnSpc>
                <a:spcPts val="3371"/>
              </a:lnSpc>
              <a:spcBef>
                <a:spcPct val="0"/>
              </a:spcBef>
            </a:pPr>
            <a:r>
              <a:rPr lang="en-US" sz="2408" b="1" dirty="0">
                <a:solidFill>
                  <a:srgbClr val="000000"/>
                </a:solidFill>
                <a:latin typeface="Inter Medium"/>
                <a:ea typeface="Inter Medium"/>
                <a:cs typeface="Inter Medium"/>
                <a:sym typeface="Inter Medium"/>
              </a:rPr>
              <a:t>Insights &amp; Conclusion</a:t>
            </a:r>
          </a:p>
          <a:p>
            <a:pPr algn="ctr">
              <a:lnSpc>
                <a:spcPts val="3371"/>
              </a:lnSpc>
              <a:spcBef>
                <a:spcPct val="0"/>
              </a:spcBef>
            </a:pPr>
            <a:endParaRPr lang="en-US" sz="2408" b="1" dirty="0">
              <a:solidFill>
                <a:srgbClr val="000000"/>
              </a:solidFill>
              <a:latin typeface="Inter Medium"/>
              <a:ea typeface="Inter Medium"/>
              <a:cs typeface="Inter Medium"/>
              <a:sym typeface="Inter Medium"/>
            </a:endParaRPr>
          </a:p>
        </p:txBody>
      </p:sp>
      <p:sp>
        <p:nvSpPr>
          <p:cNvPr id="7" name="TextBox 7"/>
          <p:cNvSpPr txBox="1"/>
          <p:nvPr/>
        </p:nvSpPr>
        <p:spPr>
          <a:xfrm>
            <a:off x="7766212" y="2391193"/>
            <a:ext cx="10205932" cy="4465932"/>
          </a:xfrm>
          <a:prstGeom prst="rect">
            <a:avLst/>
          </a:prstGeom>
        </p:spPr>
        <p:txBody>
          <a:bodyPr lIns="0" tIns="0" rIns="0" bIns="0" rtlCol="0" anchor="t">
            <a:spAutoFit/>
          </a:bodyPr>
          <a:lstStyle/>
          <a:p>
            <a:pPr algn="l">
              <a:lnSpc>
                <a:spcPts val="4556"/>
              </a:lnSpc>
              <a:spcBef>
                <a:spcPct val="0"/>
              </a:spcBef>
            </a:pPr>
            <a:r>
              <a:rPr lang="en-US" sz="3254" b="1" u="sng">
                <a:solidFill>
                  <a:srgbClr val="000000"/>
                </a:solidFill>
                <a:latin typeface="Inter Bold"/>
                <a:ea typeface="Inter Bold"/>
                <a:cs typeface="Inter Bold"/>
                <a:sym typeface="Inter Bold"/>
              </a:rPr>
              <a:t>Current Progress:</a:t>
            </a:r>
          </a:p>
          <a:p>
            <a:pPr algn="l">
              <a:lnSpc>
                <a:spcPts val="2993"/>
              </a:lnSpc>
            </a:pPr>
            <a:endParaRPr lang="en-US" sz="3254" b="1" u="sng">
              <a:solidFill>
                <a:srgbClr val="000000"/>
              </a:solidFill>
              <a:latin typeface="Inter Bold"/>
              <a:ea typeface="Inter Bold"/>
              <a:cs typeface="Inter Bold"/>
              <a:sym typeface="Inter Bold"/>
            </a:endParaRPr>
          </a:p>
          <a:p>
            <a:pPr marL="614781" lvl="1" indent="-307390" algn="l">
              <a:lnSpc>
                <a:spcPts val="3986"/>
              </a:lnSpc>
              <a:buFont typeface="Arial"/>
              <a:buChar char="•"/>
            </a:pPr>
            <a:r>
              <a:rPr lang="en-US" sz="2847" b="1">
                <a:solidFill>
                  <a:srgbClr val="000000"/>
                </a:solidFill>
                <a:latin typeface="Inter Medium"/>
                <a:ea typeface="Inter Medium"/>
                <a:cs typeface="Inter Medium"/>
                <a:sym typeface="Inter Medium"/>
              </a:rPr>
              <a:t>Dataset Collected</a:t>
            </a:r>
          </a:p>
          <a:p>
            <a:pPr marL="614781" lvl="1" indent="-307390" algn="l">
              <a:lnSpc>
                <a:spcPts val="3986"/>
              </a:lnSpc>
              <a:buFont typeface="Arial"/>
              <a:buChar char="•"/>
            </a:pPr>
            <a:r>
              <a:rPr lang="en-US" sz="2847" b="1">
                <a:solidFill>
                  <a:srgbClr val="000000"/>
                </a:solidFill>
                <a:latin typeface="Inter Medium"/>
                <a:ea typeface="Inter Medium"/>
                <a:cs typeface="Inter Medium"/>
                <a:sym typeface="Inter Medium"/>
              </a:rPr>
              <a:t> Data Cleaning Completed</a:t>
            </a:r>
          </a:p>
          <a:p>
            <a:pPr marL="614781" lvl="1" indent="-307390" algn="l">
              <a:lnSpc>
                <a:spcPts val="3986"/>
              </a:lnSpc>
              <a:buFont typeface="Arial"/>
              <a:buChar char="•"/>
            </a:pPr>
            <a:r>
              <a:rPr lang="en-US" sz="2847" b="1">
                <a:solidFill>
                  <a:srgbClr val="000000"/>
                </a:solidFill>
                <a:latin typeface="Inter Medium"/>
                <a:ea typeface="Inter Medium"/>
                <a:cs typeface="Inter Medium"/>
                <a:sym typeface="Inter Medium"/>
              </a:rPr>
              <a:t> Exploratory Data Analysis Completed</a:t>
            </a:r>
          </a:p>
          <a:p>
            <a:pPr marL="614781" lvl="1" indent="-307390" algn="l">
              <a:lnSpc>
                <a:spcPts val="3986"/>
              </a:lnSpc>
              <a:buFont typeface="Arial"/>
              <a:buChar char="•"/>
            </a:pPr>
            <a:r>
              <a:rPr lang="en-US" sz="2847" b="1">
                <a:solidFill>
                  <a:srgbClr val="000000"/>
                </a:solidFill>
                <a:latin typeface="Inter Medium"/>
                <a:ea typeface="Inter Medium"/>
                <a:cs typeface="Inter Medium"/>
                <a:sym typeface="Inter Medium"/>
              </a:rPr>
              <a:t> Statistical Analysis Completed</a:t>
            </a:r>
          </a:p>
          <a:p>
            <a:pPr marL="614781" lvl="1" indent="-307390" algn="l">
              <a:lnSpc>
                <a:spcPts val="3986"/>
              </a:lnSpc>
              <a:buFont typeface="Arial"/>
              <a:buChar char="•"/>
            </a:pPr>
            <a:r>
              <a:rPr lang="en-US" sz="2847" b="1">
                <a:solidFill>
                  <a:srgbClr val="000000"/>
                </a:solidFill>
                <a:latin typeface="Inter Medium"/>
                <a:ea typeface="Inter Medium"/>
                <a:cs typeface="Inter Medium"/>
                <a:sym typeface="Inter Medium"/>
              </a:rPr>
              <a:t> Visualization Completed</a:t>
            </a:r>
          </a:p>
          <a:p>
            <a:pPr marL="614781" lvl="1" indent="-307390" algn="l">
              <a:lnSpc>
                <a:spcPts val="3986"/>
              </a:lnSpc>
              <a:buFont typeface="Arial"/>
              <a:buChar char="•"/>
            </a:pPr>
            <a:r>
              <a:rPr lang="en-US" sz="2847" b="1">
                <a:solidFill>
                  <a:srgbClr val="000000"/>
                </a:solidFill>
                <a:latin typeface="Inter Medium"/>
                <a:ea typeface="Inter Medium"/>
                <a:cs typeface="Inter Medium"/>
                <a:sym typeface="Inter Medium"/>
              </a:rPr>
              <a:t>Final Report &amp; PPT Preparation</a:t>
            </a:r>
          </a:p>
          <a:p>
            <a:pPr algn="l">
              <a:lnSpc>
                <a:spcPts val="3986"/>
              </a:lnSpc>
              <a:spcBef>
                <a:spcPct val="0"/>
              </a:spcBef>
            </a:pPr>
            <a:endParaRPr lang="en-US" sz="2847" b="1">
              <a:solidFill>
                <a:srgbClr val="000000"/>
              </a:solidFill>
              <a:latin typeface="Inter Medium"/>
              <a:ea typeface="Inter Medium"/>
              <a:cs typeface="Inter Medium"/>
              <a:sym typeface="Inter Medium"/>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943696" y="1283018"/>
            <a:ext cx="7625908" cy="3171825"/>
          </a:xfrm>
          <a:prstGeom prst="rect">
            <a:avLst/>
          </a:prstGeom>
        </p:spPr>
        <p:txBody>
          <a:bodyPr lIns="0" tIns="0" rIns="0" bIns="0" rtlCol="0" anchor="t">
            <a:spAutoFit/>
          </a:bodyPr>
          <a:lstStyle/>
          <a:p>
            <a:pPr algn="l">
              <a:lnSpc>
                <a:spcPts val="8393"/>
              </a:lnSpc>
            </a:pPr>
            <a:r>
              <a:rPr lang="en-US" sz="6994" b="1" u="sng">
                <a:solidFill>
                  <a:srgbClr val="000000"/>
                </a:solidFill>
                <a:latin typeface="Bricolage Grotesque Bold"/>
                <a:ea typeface="Bricolage Grotesque Bold"/>
                <a:cs typeface="Bricolage Grotesque Bold"/>
                <a:sym typeface="Bricolage Grotesque Bold"/>
              </a:rPr>
              <a:t>Work Completed So Far:</a:t>
            </a:r>
          </a:p>
          <a:p>
            <a:pPr algn="l">
              <a:lnSpc>
                <a:spcPts val="8393"/>
              </a:lnSpc>
            </a:pPr>
            <a:endParaRPr lang="en-US" sz="6994" b="1" u="sng">
              <a:solidFill>
                <a:srgbClr val="000000"/>
              </a:solidFill>
              <a:latin typeface="Bricolage Grotesque Bold"/>
              <a:ea typeface="Bricolage Grotesque Bold"/>
              <a:cs typeface="Bricolage Grotesque Bold"/>
              <a:sym typeface="Bricolage Grotesque Bold"/>
            </a:endParaRPr>
          </a:p>
        </p:txBody>
      </p:sp>
      <p:sp>
        <p:nvSpPr>
          <p:cNvPr id="4" name="TextBox 4"/>
          <p:cNvSpPr txBox="1"/>
          <p:nvPr/>
        </p:nvSpPr>
        <p:spPr>
          <a:xfrm>
            <a:off x="6509879" y="6735244"/>
            <a:ext cx="5425773" cy="2523056"/>
          </a:xfrm>
          <a:prstGeom prst="rect">
            <a:avLst/>
          </a:prstGeom>
        </p:spPr>
        <p:txBody>
          <a:bodyPr lIns="0" tIns="0" rIns="0" bIns="0" rtlCol="0" anchor="t">
            <a:spAutoFit/>
          </a:bodyPr>
          <a:lstStyle/>
          <a:p>
            <a:pPr algn="l">
              <a:lnSpc>
                <a:spcPts val="3376"/>
              </a:lnSpc>
            </a:pPr>
            <a:r>
              <a:rPr lang="en-US" sz="2411" b="1" u="sng">
                <a:solidFill>
                  <a:srgbClr val="000000"/>
                </a:solidFill>
                <a:latin typeface="Inter Bold"/>
                <a:ea typeface="Inter Bold"/>
                <a:cs typeface="Inter Bold"/>
                <a:sym typeface="Inter Bold"/>
              </a:rPr>
              <a:t>Analysis Performed:</a:t>
            </a:r>
          </a:p>
          <a:p>
            <a:pPr algn="l">
              <a:lnSpc>
                <a:spcPts val="3376"/>
              </a:lnSpc>
            </a:pPr>
            <a:r>
              <a:rPr lang="en-US" sz="2411" b="1">
                <a:solidFill>
                  <a:srgbClr val="000000"/>
                </a:solidFill>
                <a:latin typeface="Inter Bold"/>
                <a:ea typeface="Inter Bold"/>
                <a:cs typeface="Inter Bold"/>
                <a:sym typeface="Inter Bold"/>
              </a:rPr>
              <a:t>Exploratory Data Analysis:</a:t>
            </a:r>
          </a:p>
          <a:p>
            <a:pPr algn="l">
              <a:lnSpc>
                <a:spcPts val="3376"/>
              </a:lnSpc>
            </a:pPr>
            <a:r>
              <a:rPr lang="en-US" sz="2411">
                <a:solidFill>
                  <a:srgbClr val="000000"/>
                </a:solidFill>
                <a:latin typeface="Inter"/>
                <a:ea typeface="Inter"/>
                <a:cs typeface="Inter"/>
                <a:sym typeface="Inter"/>
              </a:rPr>
              <a:t>•Distribution of Sleep Duration </a:t>
            </a:r>
          </a:p>
          <a:p>
            <a:pPr algn="l">
              <a:lnSpc>
                <a:spcPts val="3376"/>
              </a:lnSpc>
            </a:pPr>
            <a:r>
              <a:rPr lang="en-US" sz="2411">
                <a:solidFill>
                  <a:srgbClr val="000000"/>
                </a:solidFill>
                <a:latin typeface="Inter"/>
                <a:ea typeface="Inter"/>
                <a:cs typeface="Inter"/>
                <a:sym typeface="Inter"/>
              </a:rPr>
              <a:t>•Distribution of Stress Level </a:t>
            </a:r>
          </a:p>
          <a:p>
            <a:pPr algn="l">
              <a:lnSpc>
                <a:spcPts val="3376"/>
              </a:lnSpc>
            </a:pPr>
            <a:r>
              <a:rPr lang="en-US" sz="2411">
                <a:solidFill>
                  <a:srgbClr val="000000"/>
                </a:solidFill>
                <a:latin typeface="Inter"/>
                <a:ea typeface="Inter"/>
                <a:cs typeface="Inter"/>
                <a:sym typeface="Inter"/>
              </a:rPr>
              <a:t>•Distribution of Physical Activity</a:t>
            </a:r>
          </a:p>
          <a:p>
            <a:pPr algn="l">
              <a:lnSpc>
                <a:spcPts val="3376"/>
              </a:lnSpc>
              <a:spcBef>
                <a:spcPct val="0"/>
              </a:spcBef>
            </a:pPr>
            <a:endParaRPr lang="en-US" sz="2411">
              <a:solidFill>
                <a:srgbClr val="000000"/>
              </a:solidFill>
              <a:latin typeface="Inter"/>
              <a:ea typeface="Inter"/>
              <a:cs typeface="Inter"/>
              <a:sym typeface="Inter"/>
            </a:endParaRPr>
          </a:p>
        </p:txBody>
      </p:sp>
      <p:grpSp>
        <p:nvGrpSpPr>
          <p:cNvPr id="5" name="Group 5"/>
          <p:cNvGrpSpPr/>
          <p:nvPr/>
        </p:nvGrpSpPr>
        <p:grpSpPr>
          <a:xfrm>
            <a:off x="943696" y="6450162"/>
            <a:ext cx="5007305" cy="3796499"/>
            <a:chOff x="0" y="0"/>
            <a:chExt cx="6676407" cy="5061999"/>
          </a:xfrm>
        </p:grpSpPr>
        <p:sp>
          <p:nvSpPr>
            <p:cNvPr id="6" name="TextBox 6"/>
            <p:cNvSpPr txBox="1"/>
            <p:nvPr/>
          </p:nvSpPr>
          <p:spPr>
            <a:xfrm>
              <a:off x="0" y="4659176"/>
              <a:ext cx="5498110" cy="402823"/>
            </a:xfrm>
            <a:prstGeom prst="rect">
              <a:avLst/>
            </a:prstGeom>
          </p:spPr>
          <p:txBody>
            <a:bodyPr lIns="0" tIns="0" rIns="0" bIns="0" rtlCol="0" anchor="t">
              <a:spAutoFit/>
            </a:bodyPr>
            <a:lstStyle/>
            <a:p>
              <a:pPr algn="l">
                <a:lnSpc>
                  <a:spcPts val="2566"/>
                </a:lnSpc>
                <a:spcBef>
                  <a:spcPct val="0"/>
                </a:spcBef>
              </a:pPr>
              <a:endParaRPr/>
            </a:p>
          </p:txBody>
        </p:sp>
        <p:sp>
          <p:nvSpPr>
            <p:cNvPr id="7" name="TextBox 7"/>
            <p:cNvSpPr txBox="1"/>
            <p:nvPr/>
          </p:nvSpPr>
          <p:spPr>
            <a:xfrm>
              <a:off x="0" y="-47625"/>
              <a:ext cx="6676407" cy="4480311"/>
            </a:xfrm>
            <a:prstGeom prst="rect">
              <a:avLst/>
            </a:prstGeom>
          </p:spPr>
          <p:txBody>
            <a:bodyPr lIns="0" tIns="0" rIns="0" bIns="0" rtlCol="0" anchor="t">
              <a:spAutoFit/>
            </a:bodyPr>
            <a:lstStyle/>
            <a:p>
              <a:pPr algn="l">
                <a:lnSpc>
                  <a:spcPts val="3274"/>
                </a:lnSpc>
              </a:pPr>
              <a:r>
                <a:rPr lang="en-US" sz="2338" b="1" u="sng">
                  <a:solidFill>
                    <a:srgbClr val="000000"/>
                  </a:solidFill>
                  <a:latin typeface="Inter Bold"/>
                  <a:ea typeface="Inter Bold"/>
                  <a:cs typeface="Inter Bold"/>
                  <a:sym typeface="Inter Bold"/>
                </a:rPr>
                <a:t>Visualizations Created:</a:t>
              </a:r>
            </a:p>
            <a:p>
              <a:pPr algn="l">
                <a:lnSpc>
                  <a:spcPts val="2994"/>
                </a:lnSpc>
              </a:pPr>
              <a:r>
                <a:rPr lang="en-US" sz="2138" b="1">
                  <a:solidFill>
                    <a:srgbClr val="000000"/>
                  </a:solidFill>
                  <a:latin typeface="Inter Medium"/>
                  <a:ea typeface="Inter Medium"/>
                  <a:cs typeface="Inter Medium"/>
                  <a:sym typeface="Inter Medium"/>
                </a:rPr>
                <a:t>•Correlation Heatmap </a:t>
              </a:r>
            </a:p>
            <a:p>
              <a:pPr algn="l">
                <a:lnSpc>
                  <a:spcPts val="2994"/>
                </a:lnSpc>
              </a:pPr>
              <a:r>
                <a:rPr lang="en-US" sz="2138" b="1">
                  <a:solidFill>
                    <a:srgbClr val="000000"/>
                  </a:solidFill>
                  <a:latin typeface="Inter Medium"/>
                  <a:ea typeface="Inter Medium"/>
                  <a:cs typeface="Inter Medium"/>
                  <a:sym typeface="Inter Medium"/>
                </a:rPr>
                <a:t>•Boxplots </a:t>
              </a:r>
            </a:p>
            <a:p>
              <a:pPr algn="l">
                <a:lnSpc>
                  <a:spcPts val="2994"/>
                </a:lnSpc>
              </a:pPr>
              <a:r>
                <a:rPr lang="en-US" sz="2138" b="1">
                  <a:solidFill>
                    <a:srgbClr val="000000"/>
                  </a:solidFill>
                  <a:latin typeface="Inter Medium"/>
                  <a:ea typeface="Inter Medium"/>
                  <a:cs typeface="Inter Medium"/>
                  <a:sym typeface="Inter Medium"/>
                </a:rPr>
                <a:t>•Scatter Plots </a:t>
              </a:r>
            </a:p>
            <a:p>
              <a:pPr algn="l">
                <a:lnSpc>
                  <a:spcPts val="2994"/>
                </a:lnSpc>
              </a:pPr>
              <a:r>
                <a:rPr lang="en-US" sz="2138" b="1">
                  <a:solidFill>
                    <a:srgbClr val="000000"/>
                  </a:solidFill>
                  <a:latin typeface="Inter Medium"/>
                  <a:ea typeface="Inter Medium"/>
                  <a:cs typeface="Inter Medium"/>
                  <a:sym typeface="Inter Medium"/>
                </a:rPr>
                <a:t>•Regression Plots </a:t>
              </a:r>
            </a:p>
            <a:p>
              <a:pPr algn="l">
                <a:lnSpc>
                  <a:spcPts val="2994"/>
                </a:lnSpc>
              </a:pPr>
              <a:r>
                <a:rPr lang="en-US" sz="2138" b="1">
                  <a:solidFill>
                    <a:srgbClr val="000000"/>
                  </a:solidFill>
                  <a:latin typeface="Inter Medium"/>
                  <a:ea typeface="Inter Medium"/>
                  <a:cs typeface="Inter Medium"/>
                  <a:sym typeface="Inter Medium"/>
                </a:rPr>
                <a:t>•Bar Charts </a:t>
              </a:r>
            </a:p>
            <a:p>
              <a:pPr algn="l">
                <a:lnSpc>
                  <a:spcPts val="2994"/>
                </a:lnSpc>
              </a:pPr>
              <a:r>
                <a:rPr lang="en-US" sz="2138" b="1">
                  <a:solidFill>
                    <a:srgbClr val="000000"/>
                  </a:solidFill>
                  <a:latin typeface="Inter Medium"/>
                  <a:ea typeface="Inter Medium"/>
                  <a:cs typeface="Inter Medium"/>
                  <a:sym typeface="Inter Medium"/>
                </a:rPr>
                <a:t>•Stacked Bar Charts </a:t>
              </a:r>
            </a:p>
            <a:p>
              <a:pPr algn="l">
                <a:lnSpc>
                  <a:spcPts val="2994"/>
                </a:lnSpc>
              </a:pPr>
              <a:r>
                <a:rPr lang="en-US" sz="2138" b="1">
                  <a:solidFill>
                    <a:srgbClr val="000000"/>
                  </a:solidFill>
                  <a:latin typeface="Inter Medium"/>
                  <a:ea typeface="Inter Medium"/>
                  <a:cs typeface="Inter Medium"/>
                  <a:sym typeface="Inter Medium"/>
                </a:rPr>
                <a:t>•Interactive Plotly Charts </a:t>
              </a:r>
            </a:p>
            <a:p>
              <a:pPr algn="l">
                <a:lnSpc>
                  <a:spcPts val="2994"/>
                </a:lnSpc>
                <a:spcBef>
                  <a:spcPct val="0"/>
                </a:spcBef>
              </a:pPr>
              <a:endParaRPr lang="en-US" sz="2138" b="1">
                <a:solidFill>
                  <a:srgbClr val="000000"/>
                </a:solidFill>
                <a:latin typeface="Inter Medium"/>
                <a:ea typeface="Inter Medium"/>
                <a:cs typeface="Inter Medium"/>
                <a:sym typeface="Inter Medium"/>
              </a:endParaRPr>
            </a:p>
          </p:txBody>
        </p:sp>
      </p:grpSp>
      <p:sp>
        <p:nvSpPr>
          <p:cNvPr id="8" name="TextBox 8"/>
          <p:cNvSpPr txBox="1"/>
          <p:nvPr/>
        </p:nvSpPr>
        <p:spPr>
          <a:xfrm>
            <a:off x="12535727" y="6894764"/>
            <a:ext cx="4471314" cy="2888905"/>
          </a:xfrm>
          <a:prstGeom prst="rect">
            <a:avLst/>
          </a:prstGeom>
        </p:spPr>
        <p:txBody>
          <a:bodyPr lIns="0" tIns="0" rIns="0" bIns="0" rtlCol="0" anchor="t">
            <a:spAutoFit/>
          </a:bodyPr>
          <a:lstStyle/>
          <a:p>
            <a:pPr algn="l">
              <a:lnSpc>
                <a:spcPts val="3555"/>
              </a:lnSpc>
            </a:pPr>
            <a:r>
              <a:rPr lang="en-US" sz="2539" b="1">
                <a:solidFill>
                  <a:srgbClr val="000000"/>
                </a:solidFill>
                <a:latin typeface="Inter Medium"/>
                <a:ea typeface="Inter Medium"/>
                <a:cs typeface="Inter Medium"/>
                <a:sym typeface="Inter Medium"/>
              </a:rPr>
              <a:t>S</a:t>
            </a:r>
            <a:r>
              <a:rPr lang="en-US" sz="2539" b="1" u="sng">
                <a:solidFill>
                  <a:srgbClr val="000000"/>
                </a:solidFill>
                <a:latin typeface="Inter Bold"/>
                <a:ea typeface="Inter Bold"/>
                <a:cs typeface="Inter Bold"/>
                <a:sym typeface="Inter Bold"/>
              </a:rPr>
              <a:t>tatistical Analysis:</a:t>
            </a:r>
          </a:p>
          <a:p>
            <a:pPr algn="l">
              <a:lnSpc>
                <a:spcPts val="3246"/>
              </a:lnSpc>
            </a:pPr>
            <a:r>
              <a:rPr lang="en-US" sz="2318" b="1">
                <a:solidFill>
                  <a:srgbClr val="000000"/>
                </a:solidFill>
                <a:latin typeface="Inter Medium"/>
                <a:ea typeface="Inter Medium"/>
                <a:cs typeface="Inter Medium"/>
                <a:sym typeface="Inter Medium"/>
              </a:rPr>
              <a:t>•Pearson Correlation </a:t>
            </a:r>
          </a:p>
          <a:p>
            <a:pPr algn="l">
              <a:lnSpc>
                <a:spcPts val="3246"/>
              </a:lnSpc>
            </a:pPr>
            <a:r>
              <a:rPr lang="en-US" sz="2318" b="1">
                <a:solidFill>
                  <a:srgbClr val="000000"/>
                </a:solidFill>
                <a:latin typeface="Inter Medium"/>
                <a:ea typeface="Inter Medium"/>
                <a:cs typeface="Inter Medium"/>
                <a:sym typeface="Inter Medium"/>
              </a:rPr>
              <a:t>•Spearman Correlation </a:t>
            </a:r>
          </a:p>
          <a:p>
            <a:pPr algn="l">
              <a:lnSpc>
                <a:spcPts val="3246"/>
              </a:lnSpc>
            </a:pPr>
            <a:r>
              <a:rPr lang="en-US" sz="2318" b="1">
                <a:solidFill>
                  <a:srgbClr val="000000"/>
                </a:solidFill>
                <a:latin typeface="Inter Medium"/>
                <a:ea typeface="Inter Medium"/>
                <a:cs typeface="Inter Medium"/>
                <a:sym typeface="Inter Medium"/>
              </a:rPr>
              <a:t>•ANOVA </a:t>
            </a:r>
          </a:p>
          <a:p>
            <a:pPr algn="l">
              <a:lnSpc>
                <a:spcPts val="3246"/>
              </a:lnSpc>
            </a:pPr>
            <a:r>
              <a:rPr lang="en-US" sz="2318" b="1">
                <a:solidFill>
                  <a:srgbClr val="000000"/>
                </a:solidFill>
                <a:latin typeface="Inter Medium"/>
                <a:ea typeface="Inter Medium"/>
                <a:cs typeface="Inter Medium"/>
                <a:sym typeface="Inter Medium"/>
              </a:rPr>
              <a:t>•t-Test </a:t>
            </a:r>
          </a:p>
          <a:p>
            <a:pPr algn="l">
              <a:lnSpc>
                <a:spcPts val="3246"/>
              </a:lnSpc>
            </a:pPr>
            <a:r>
              <a:rPr lang="en-US" sz="2318" b="1">
                <a:solidFill>
                  <a:srgbClr val="000000"/>
                </a:solidFill>
                <a:latin typeface="Inter Medium"/>
                <a:ea typeface="Inter Medium"/>
                <a:cs typeface="Inter Medium"/>
                <a:sym typeface="Inter Medium"/>
              </a:rPr>
              <a:t>•Linear Regression</a:t>
            </a:r>
          </a:p>
          <a:p>
            <a:pPr algn="l">
              <a:lnSpc>
                <a:spcPts val="3246"/>
              </a:lnSpc>
              <a:spcBef>
                <a:spcPct val="0"/>
              </a:spcBef>
            </a:pPr>
            <a:endParaRPr lang="en-US" sz="2318" b="1">
              <a:solidFill>
                <a:srgbClr val="000000"/>
              </a:solidFill>
              <a:latin typeface="Inter Medium"/>
              <a:ea typeface="Inter Medium"/>
              <a:cs typeface="Inter Medium"/>
              <a:sym typeface="Inter Medium"/>
            </a:endParaRPr>
          </a:p>
        </p:txBody>
      </p:sp>
      <p:sp>
        <p:nvSpPr>
          <p:cNvPr id="9" name="AutoShape 9"/>
          <p:cNvSpPr/>
          <p:nvPr/>
        </p:nvSpPr>
        <p:spPr>
          <a:xfrm flipV="1">
            <a:off x="6056300" y="7125471"/>
            <a:ext cx="0" cy="1790226"/>
          </a:xfrm>
          <a:prstGeom prst="line">
            <a:avLst/>
          </a:prstGeom>
          <a:ln w="28575" cap="flat">
            <a:solidFill>
              <a:srgbClr val="000000"/>
            </a:solidFill>
            <a:prstDash val="solid"/>
            <a:headEnd type="none" w="sm" len="sm"/>
            <a:tailEnd type="none" w="sm" len="sm"/>
          </a:ln>
        </p:spPr>
        <p:txBody>
          <a:bodyPr/>
          <a:lstStyle/>
          <a:p>
            <a:endParaRPr lang="en-IN"/>
          </a:p>
        </p:txBody>
      </p:sp>
      <p:sp>
        <p:nvSpPr>
          <p:cNvPr id="10" name="AutoShape 10"/>
          <p:cNvSpPr/>
          <p:nvPr/>
        </p:nvSpPr>
        <p:spPr>
          <a:xfrm flipV="1">
            <a:off x="12235690" y="7125471"/>
            <a:ext cx="0" cy="1790226"/>
          </a:xfrm>
          <a:prstGeom prst="line">
            <a:avLst/>
          </a:prstGeom>
          <a:ln w="28575" cap="flat">
            <a:solidFill>
              <a:srgbClr val="000000"/>
            </a:solidFill>
            <a:prstDash val="solid"/>
            <a:headEnd type="none" w="sm" len="sm"/>
            <a:tailEnd type="none" w="sm" len="sm"/>
          </a:ln>
        </p:spPr>
        <p:txBody>
          <a:bodyPr/>
          <a:lstStyle/>
          <a:p>
            <a:endParaRPr lang="en-IN"/>
          </a:p>
        </p:txBody>
      </p:sp>
      <p:sp>
        <p:nvSpPr>
          <p:cNvPr id="11" name="TextBox 11"/>
          <p:cNvSpPr txBox="1"/>
          <p:nvPr/>
        </p:nvSpPr>
        <p:spPr>
          <a:xfrm>
            <a:off x="943696" y="3676613"/>
            <a:ext cx="10196632" cy="2773549"/>
          </a:xfrm>
          <a:prstGeom prst="rect">
            <a:avLst/>
          </a:prstGeom>
        </p:spPr>
        <p:txBody>
          <a:bodyPr lIns="0" tIns="0" rIns="0" bIns="0" rtlCol="0" anchor="t">
            <a:spAutoFit/>
          </a:bodyPr>
          <a:lstStyle/>
          <a:p>
            <a:pPr algn="l">
              <a:lnSpc>
                <a:spcPts val="3883"/>
              </a:lnSpc>
            </a:pPr>
            <a:r>
              <a:rPr lang="en-US" sz="2774" b="1">
                <a:solidFill>
                  <a:srgbClr val="000000"/>
                </a:solidFill>
                <a:latin typeface="Inter Bold"/>
                <a:ea typeface="Inter Bold"/>
                <a:cs typeface="Inter Bold"/>
                <a:sym typeface="Inter Bold"/>
              </a:rPr>
              <a:t>Key Findings:</a:t>
            </a:r>
          </a:p>
          <a:p>
            <a:pPr marL="555735" lvl="1" indent="-277867" algn="l">
              <a:lnSpc>
                <a:spcPts val="3603"/>
              </a:lnSpc>
              <a:buFont typeface="Arial"/>
              <a:buChar char="•"/>
            </a:pPr>
            <a:r>
              <a:rPr lang="en-US" sz="2574" b="1">
                <a:solidFill>
                  <a:srgbClr val="000000"/>
                </a:solidFill>
                <a:latin typeface="Inter Medium"/>
                <a:ea typeface="Inter Medium"/>
                <a:cs typeface="Inter Medium"/>
                <a:sym typeface="Inter Medium"/>
              </a:rPr>
              <a:t>Higher stress is associated with shorter sleep duration. </a:t>
            </a:r>
          </a:p>
          <a:p>
            <a:pPr marL="555735" lvl="1" indent="-277867" algn="l">
              <a:lnSpc>
                <a:spcPts val="3603"/>
              </a:lnSpc>
              <a:buFont typeface="Arial"/>
              <a:buChar char="•"/>
            </a:pPr>
            <a:r>
              <a:rPr lang="en-US" sz="2574" b="1">
                <a:solidFill>
                  <a:srgbClr val="000000"/>
                </a:solidFill>
                <a:latin typeface="Inter Medium"/>
                <a:ea typeface="Inter Medium"/>
                <a:cs typeface="Inter Medium"/>
                <a:sym typeface="Inter Medium"/>
              </a:rPr>
              <a:t>Increased physical activity generally improves sleep quality. </a:t>
            </a:r>
          </a:p>
          <a:p>
            <a:pPr marL="555735" lvl="1" indent="-277867" algn="l">
              <a:lnSpc>
                <a:spcPts val="3603"/>
              </a:lnSpc>
              <a:buFont typeface="Arial"/>
              <a:buChar char="•"/>
            </a:pPr>
            <a:r>
              <a:rPr lang="en-US" sz="2574" b="1">
                <a:solidFill>
                  <a:srgbClr val="000000"/>
                </a:solidFill>
                <a:latin typeface="Inter Medium"/>
                <a:ea typeface="Inter Medium"/>
                <a:cs typeface="Inter Medium"/>
                <a:sym typeface="Inter Medium"/>
              </a:rPr>
              <a:t>Sleep duration varies across different occupations. </a:t>
            </a:r>
          </a:p>
          <a:p>
            <a:pPr marL="555735" lvl="1" indent="-277867" algn="l">
              <a:lnSpc>
                <a:spcPts val="3603"/>
              </a:lnSpc>
              <a:buFont typeface="Arial"/>
              <a:buChar char="•"/>
            </a:pPr>
            <a:r>
              <a:rPr lang="en-US" sz="2574" b="1">
                <a:solidFill>
                  <a:srgbClr val="000000"/>
                </a:solidFill>
                <a:latin typeface="Inter Medium"/>
                <a:ea typeface="Inter Medium"/>
                <a:cs typeface="Inter Medium"/>
                <a:sym typeface="Inter Medium"/>
              </a:rPr>
              <a:t>Sleep disorders are more common among high-stress groups.</a:t>
            </a:r>
          </a:p>
          <a:p>
            <a:pPr algn="ctr">
              <a:lnSpc>
                <a:spcPts val="3480"/>
              </a:lnSpc>
              <a:spcBef>
                <a:spcPct val="0"/>
              </a:spcBef>
            </a:pPr>
            <a:endParaRPr lang="en-US" sz="2574" b="1">
              <a:solidFill>
                <a:srgbClr val="000000"/>
              </a:solidFill>
              <a:latin typeface="Inter Medium"/>
              <a:ea typeface="Inter Medium"/>
              <a:cs typeface="Inter Medium"/>
              <a:sym typeface="Inter Medium"/>
            </a:endParaRPr>
          </a:p>
        </p:txBody>
      </p:sp>
      <p:sp>
        <p:nvSpPr>
          <p:cNvPr id="12" name="Freeform 12"/>
          <p:cNvSpPr/>
          <p:nvPr/>
        </p:nvSpPr>
        <p:spPr>
          <a:xfrm>
            <a:off x="13245263" y="-454666"/>
            <a:ext cx="5369650" cy="2966732"/>
          </a:xfrm>
          <a:custGeom>
            <a:avLst/>
            <a:gdLst/>
            <a:ahLst/>
            <a:cxnLst/>
            <a:rect l="l" t="t" r="r" b="b"/>
            <a:pathLst>
              <a:path w="5369650" h="2966732">
                <a:moveTo>
                  <a:pt x="0" y="0"/>
                </a:moveTo>
                <a:lnTo>
                  <a:pt x="5369650" y="0"/>
                </a:lnTo>
                <a:lnTo>
                  <a:pt x="5369650" y="2966732"/>
                </a:lnTo>
                <a:lnTo>
                  <a:pt x="0" y="2966732"/>
                </a:lnTo>
                <a:lnTo>
                  <a:pt x="0" y="0"/>
                </a:lnTo>
                <a:close/>
              </a:path>
            </a:pathLst>
          </a:custGeom>
          <a:blipFill>
            <a:blip r:embed="rId2"/>
            <a:stretch>
              <a:fillRect/>
            </a:stretch>
          </a:blipFill>
        </p:spPr>
        <p:txBody>
          <a:bodyPr/>
          <a:lstStyle/>
          <a:p>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74684" y="282893"/>
            <a:ext cx="17222444" cy="3752850"/>
          </a:xfrm>
          <a:prstGeom prst="rect">
            <a:avLst/>
          </a:prstGeom>
        </p:spPr>
        <p:txBody>
          <a:bodyPr lIns="0" tIns="0" rIns="0" bIns="0" rtlCol="0" anchor="t">
            <a:spAutoFit/>
          </a:bodyPr>
          <a:lstStyle/>
          <a:p>
            <a:pPr algn="l">
              <a:lnSpc>
                <a:spcPts val="6763"/>
              </a:lnSpc>
            </a:pPr>
            <a:r>
              <a:rPr lang="en-US" sz="5636" b="1" u="sng">
                <a:solidFill>
                  <a:srgbClr val="000000"/>
                </a:solidFill>
                <a:latin typeface="Bricolage Grotesque Bold"/>
                <a:ea typeface="Bricolage Grotesque Bold"/>
                <a:cs typeface="Bricolage Grotesque Bold"/>
                <a:sym typeface="Bricolage Grotesque Bold"/>
              </a:rPr>
              <a:t>Challenges, Future Work &amp; Conclusion</a:t>
            </a:r>
          </a:p>
          <a:p>
            <a:pPr algn="l">
              <a:lnSpc>
                <a:spcPts val="6763"/>
              </a:lnSpc>
            </a:pPr>
            <a:r>
              <a:rPr lang="en-US" sz="5636" b="1" u="sng">
                <a:solidFill>
                  <a:srgbClr val="000000"/>
                </a:solidFill>
                <a:latin typeface="Bricolage Grotesque Bold"/>
                <a:ea typeface="Bricolage Grotesque Bold"/>
                <a:cs typeface="Bricolage Grotesque Bold"/>
                <a:sym typeface="Bricolage Grotesque Bold"/>
              </a:rPr>
              <a:t>Challenges Faced:</a:t>
            </a:r>
          </a:p>
          <a:p>
            <a:pPr algn="l">
              <a:lnSpc>
                <a:spcPts val="8083"/>
              </a:lnSpc>
            </a:pPr>
            <a:endParaRPr lang="en-US" sz="5636" b="1" u="sng">
              <a:solidFill>
                <a:srgbClr val="000000"/>
              </a:solidFill>
              <a:latin typeface="Bricolage Grotesque Bold"/>
              <a:ea typeface="Bricolage Grotesque Bold"/>
              <a:cs typeface="Bricolage Grotesque Bold"/>
              <a:sym typeface="Bricolage Grotesque Bold"/>
            </a:endParaRPr>
          </a:p>
          <a:p>
            <a:pPr algn="l">
              <a:lnSpc>
                <a:spcPts val="8083"/>
              </a:lnSpc>
            </a:pPr>
            <a:endParaRPr lang="en-US" sz="5636" b="1" u="sng">
              <a:solidFill>
                <a:srgbClr val="000000"/>
              </a:solidFill>
              <a:latin typeface="Bricolage Grotesque Bold"/>
              <a:ea typeface="Bricolage Grotesque Bold"/>
              <a:cs typeface="Bricolage Grotesque Bold"/>
              <a:sym typeface="Bricolage Grotesque Bold"/>
            </a:endParaRPr>
          </a:p>
        </p:txBody>
      </p:sp>
      <p:sp>
        <p:nvSpPr>
          <p:cNvPr id="4" name="TextBox 4"/>
          <p:cNvSpPr txBox="1"/>
          <p:nvPr/>
        </p:nvSpPr>
        <p:spPr>
          <a:xfrm>
            <a:off x="574684" y="1896110"/>
            <a:ext cx="10275635" cy="2961640"/>
          </a:xfrm>
          <a:prstGeom prst="rect">
            <a:avLst/>
          </a:prstGeom>
        </p:spPr>
        <p:txBody>
          <a:bodyPr lIns="0" tIns="0" rIns="0" bIns="0" rtlCol="0" anchor="t">
            <a:spAutoFit/>
          </a:bodyPr>
          <a:lstStyle/>
          <a:p>
            <a:pPr algn="l">
              <a:lnSpc>
                <a:spcPts val="2520"/>
              </a:lnSpc>
            </a:pPr>
            <a:endParaRPr/>
          </a:p>
          <a:p>
            <a:pPr algn="l">
              <a:lnSpc>
                <a:spcPts val="2799"/>
              </a:lnSpc>
            </a:pPr>
            <a:r>
              <a:rPr lang="en-US" sz="1999" b="1" u="sng">
                <a:solidFill>
                  <a:srgbClr val="000000"/>
                </a:solidFill>
                <a:latin typeface="Inter Bold"/>
                <a:ea typeface="Inter Bold"/>
                <a:cs typeface="Inter Bold"/>
                <a:sym typeface="Inter Bold"/>
              </a:rPr>
              <a:t>CHALLANGES:</a:t>
            </a:r>
          </a:p>
          <a:p>
            <a:pPr algn="l">
              <a:lnSpc>
                <a:spcPts val="3079"/>
              </a:lnSpc>
            </a:pPr>
            <a:r>
              <a:rPr lang="en-US" sz="2199">
                <a:solidFill>
                  <a:srgbClr val="000000"/>
                </a:solidFill>
                <a:latin typeface="Glacial Indifference"/>
                <a:ea typeface="Glacial Indifference"/>
                <a:cs typeface="Glacial Indifference"/>
                <a:sym typeface="Glacial Indifference"/>
              </a:rPr>
              <a:t>•Handling missing values in the dataset. </a:t>
            </a:r>
          </a:p>
          <a:p>
            <a:pPr algn="l">
              <a:lnSpc>
                <a:spcPts val="3079"/>
              </a:lnSpc>
            </a:pPr>
            <a:r>
              <a:rPr lang="en-US" sz="2199">
                <a:solidFill>
                  <a:srgbClr val="000000"/>
                </a:solidFill>
                <a:latin typeface="Glacial Indifference"/>
                <a:ea typeface="Glacial Indifference"/>
                <a:cs typeface="Glacial Indifference"/>
                <a:sym typeface="Glacial Indifference"/>
              </a:rPr>
              <a:t>•Processing Blood Pressure into numerical values. </a:t>
            </a:r>
          </a:p>
          <a:p>
            <a:pPr algn="l">
              <a:lnSpc>
                <a:spcPts val="3079"/>
              </a:lnSpc>
            </a:pPr>
            <a:r>
              <a:rPr lang="en-US" sz="2199">
                <a:solidFill>
                  <a:srgbClr val="000000"/>
                </a:solidFill>
                <a:latin typeface="Glacial Indifference"/>
                <a:ea typeface="Glacial Indifference"/>
                <a:cs typeface="Glacial Indifference"/>
                <a:sym typeface="Glacial Indifference"/>
              </a:rPr>
              <a:t>•Identifying meaningful outliers. </a:t>
            </a:r>
          </a:p>
          <a:p>
            <a:pPr algn="l">
              <a:lnSpc>
                <a:spcPts val="3079"/>
              </a:lnSpc>
            </a:pPr>
            <a:r>
              <a:rPr lang="en-US" sz="2199">
                <a:solidFill>
                  <a:srgbClr val="000000"/>
                </a:solidFill>
                <a:latin typeface="Glacial Indifference"/>
                <a:ea typeface="Glacial Indifference"/>
                <a:cs typeface="Glacial Indifference"/>
                <a:sym typeface="Glacial Indifference"/>
              </a:rPr>
              <a:t>•Understanding statistical techniques like ANOVA and Linear Regression. </a:t>
            </a:r>
          </a:p>
          <a:p>
            <a:pPr algn="l">
              <a:lnSpc>
                <a:spcPts val="3079"/>
              </a:lnSpc>
            </a:pPr>
            <a:r>
              <a:rPr lang="en-US" sz="2199">
                <a:solidFill>
                  <a:srgbClr val="000000"/>
                </a:solidFill>
                <a:latin typeface="Glacial Indifference"/>
                <a:ea typeface="Glacial Indifference"/>
                <a:cs typeface="Glacial Indifference"/>
                <a:sym typeface="Glacial Indifference"/>
              </a:rPr>
              <a:t>•Selecting the most effective visualizations.</a:t>
            </a:r>
          </a:p>
          <a:p>
            <a:pPr algn="l">
              <a:lnSpc>
                <a:spcPts val="2799"/>
              </a:lnSpc>
              <a:spcBef>
                <a:spcPct val="0"/>
              </a:spcBef>
            </a:pPr>
            <a:endParaRPr lang="en-US" sz="2199">
              <a:solidFill>
                <a:srgbClr val="000000"/>
              </a:solidFill>
              <a:latin typeface="Glacial Indifference"/>
              <a:ea typeface="Glacial Indifference"/>
              <a:cs typeface="Glacial Indifference"/>
              <a:sym typeface="Glacial Indifference"/>
            </a:endParaRPr>
          </a:p>
        </p:txBody>
      </p:sp>
      <p:sp>
        <p:nvSpPr>
          <p:cNvPr id="5" name="AutoShape 5"/>
          <p:cNvSpPr/>
          <p:nvPr/>
        </p:nvSpPr>
        <p:spPr>
          <a:xfrm>
            <a:off x="574684" y="4843462"/>
            <a:ext cx="6781094" cy="0"/>
          </a:xfrm>
          <a:prstGeom prst="line">
            <a:avLst/>
          </a:prstGeom>
          <a:ln w="28575" cap="flat">
            <a:solidFill>
              <a:srgbClr val="000000"/>
            </a:solidFill>
            <a:prstDash val="solid"/>
            <a:headEnd type="none" w="sm" len="sm"/>
            <a:tailEnd type="none" w="sm" len="sm"/>
          </a:ln>
        </p:spPr>
        <p:txBody>
          <a:bodyPr/>
          <a:lstStyle/>
          <a:p>
            <a:endParaRPr lang="en-IN"/>
          </a:p>
        </p:txBody>
      </p:sp>
      <p:sp>
        <p:nvSpPr>
          <p:cNvPr id="6" name="TextBox 6"/>
          <p:cNvSpPr txBox="1"/>
          <p:nvPr/>
        </p:nvSpPr>
        <p:spPr>
          <a:xfrm>
            <a:off x="574684" y="4912841"/>
            <a:ext cx="7208044" cy="2872718"/>
          </a:xfrm>
          <a:prstGeom prst="rect">
            <a:avLst/>
          </a:prstGeom>
        </p:spPr>
        <p:txBody>
          <a:bodyPr lIns="0" tIns="0" rIns="0" bIns="0" rtlCol="0" anchor="t">
            <a:spAutoFit/>
          </a:bodyPr>
          <a:lstStyle/>
          <a:p>
            <a:pPr algn="l">
              <a:lnSpc>
                <a:spcPts val="3493"/>
              </a:lnSpc>
            </a:pPr>
            <a:r>
              <a:rPr lang="en-US" sz="2495" b="1" u="sng">
                <a:solidFill>
                  <a:srgbClr val="000000"/>
                </a:solidFill>
                <a:latin typeface="Inter Medium"/>
                <a:ea typeface="Inter Medium"/>
                <a:cs typeface="Inter Medium"/>
                <a:sym typeface="Inter Medium"/>
              </a:rPr>
              <a:t>F</a:t>
            </a:r>
            <a:r>
              <a:rPr lang="en-US" sz="2495" b="1" u="sng">
                <a:solidFill>
                  <a:srgbClr val="000000"/>
                </a:solidFill>
                <a:latin typeface="Inter Bold"/>
                <a:ea typeface="Inter Bold"/>
                <a:cs typeface="Inter Bold"/>
                <a:sym typeface="Inter Bold"/>
              </a:rPr>
              <a:t>uture Work:</a:t>
            </a:r>
          </a:p>
          <a:p>
            <a:pPr algn="l">
              <a:lnSpc>
                <a:spcPts val="3229"/>
              </a:lnSpc>
            </a:pPr>
            <a:r>
              <a:rPr lang="en-US" sz="2306">
                <a:solidFill>
                  <a:srgbClr val="000000"/>
                </a:solidFill>
                <a:latin typeface="Glacial Indifference"/>
                <a:ea typeface="Glacial Indifference"/>
                <a:cs typeface="Glacial Indifference"/>
                <a:sym typeface="Glacial Indifference"/>
              </a:rPr>
              <a:t>•Improve prediction accuracy using Machine Learning. </a:t>
            </a:r>
          </a:p>
          <a:p>
            <a:pPr algn="l">
              <a:lnSpc>
                <a:spcPts val="3229"/>
              </a:lnSpc>
            </a:pPr>
            <a:r>
              <a:rPr lang="en-US" sz="2306">
                <a:solidFill>
                  <a:srgbClr val="000000"/>
                </a:solidFill>
                <a:latin typeface="Glacial Indifference"/>
                <a:ea typeface="Glacial Indifference"/>
                <a:cs typeface="Glacial Indifference"/>
                <a:sym typeface="Glacial Indifference"/>
              </a:rPr>
              <a:t>•Build a model to predict sleep disorders. </a:t>
            </a:r>
          </a:p>
          <a:p>
            <a:pPr algn="l">
              <a:lnSpc>
                <a:spcPts val="3229"/>
              </a:lnSpc>
            </a:pPr>
            <a:r>
              <a:rPr lang="en-US" sz="2306">
                <a:solidFill>
                  <a:srgbClr val="000000"/>
                </a:solidFill>
                <a:latin typeface="Glacial Indifference"/>
                <a:ea typeface="Glacial Indifference"/>
                <a:cs typeface="Glacial Indifference"/>
                <a:sym typeface="Glacial Indifference"/>
              </a:rPr>
              <a:t>•Develop an interactive dashboard. </a:t>
            </a:r>
          </a:p>
          <a:p>
            <a:pPr algn="l">
              <a:lnSpc>
                <a:spcPts val="3229"/>
              </a:lnSpc>
            </a:pPr>
            <a:r>
              <a:rPr lang="en-US" sz="2306">
                <a:solidFill>
                  <a:srgbClr val="000000"/>
                </a:solidFill>
                <a:latin typeface="Glacial Indifference"/>
                <a:ea typeface="Glacial Indifference"/>
                <a:cs typeface="Glacial Indifference"/>
                <a:sym typeface="Glacial Indifference"/>
              </a:rPr>
              <a:t>•Include additional health-related datasets. </a:t>
            </a:r>
          </a:p>
          <a:p>
            <a:pPr algn="l">
              <a:lnSpc>
                <a:spcPts val="3229"/>
              </a:lnSpc>
            </a:pPr>
            <a:r>
              <a:rPr lang="en-US" sz="2306">
                <a:solidFill>
                  <a:srgbClr val="000000"/>
                </a:solidFill>
                <a:latin typeface="Glacial Indifference"/>
                <a:ea typeface="Glacial Indifference"/>
                <a:cs typeface="Glacial Indifference"/>
                <a:sym typeface="Glacial Indifference"/>
              </a:rPr>
              <a:t>•Perform deeper analysis based on age, BMI, and gender.</a:t>
            </a:r>
          </a:p>
          <a:p>
            <a:pPr algn="ctr">
              <a:lnSpc>
                <a:spcPts val="3229"/>
              </a:lnSpc>
              <a:spcBef>
                <a:spcPct val="0"/>
              </a:spcBef>
            </a:pPr>
            <a:endParaRPr lang="en-US" sz="2306">
              <a:solidFill>
                <a:srgbClr val="000000"/>
              </a:solidFill>
              <a:latin typeface="Glacial Indifference"/>
              <a:ea typeface="Glacial Indifference"/>
              <a:cs typeface="Glacial Indifference"/>
              <a:sym typeface="Glacial Indifference"/>
            </a:endParaRPr>
          </a:p>
        </p:txBody>
      </p:sp>
      <p:sp>
        <p:nvSpPr>
          <p:cNvPr id="7" name="AutoShape 7"/>
          <p:cNvSpPr/>
          <p:nvPr/>
        </p:nvSpPr>
        <p:spPr>
          <a:xfrm>
            <a:off x="574684" y="7556521"/>
            <a:ext cx="6781094" cy="0"/>
          </a:xfrm>
          <a:prstGeom prst="line">
            <a:avLst/>
          </a:prstGeom>
          <a:ln w="28575" cap="flat">
            <a:solidFill>
              <a:srgbClr val="000000"/>
            </a:solidFill>
            <a:prstDash val="solid"/>
            <a:headEnd type="none" w="sm" len="sm"/>
            <a:tailEnd type="none" w="sm" len="sm"/>
          </a:ln>
        </p:spPr>
        <p:txBody>
          <a:bodyPr/>
          <a:lstStyle/>
          <a:p>
            <a:endParaRPr lang="en-IN"/>
          </a:p>
        </p:txBody>
      </p:sp>
      <p:sp>
        <p:nvSpPr>
          <p:cNvPr id="8" name="TextBox 8"/>
          <p:cNvSpPr txBox="1"/>
          <p:nvPr/>
        </p:nvSpPr>
        <p:spPr>
          <a:xfrm>
            <a:off x="574684" y="7821599"/>
            <a:ext cx="12706116" cy="2465401"/>
          </a:xfrm>
          <a:prstGeom prst="rect">
            <a:avLst/>
          </a:prstGeom>
        </p:spPr>
        <p:txBody>
          <a:bodyPr lIns="0" tIns="0" rIns="0" bIns="0" rtlCol="0" anchor="t">
            <a:spAutoFit/>
          </a:bodyPr>
          <a:lstStyle/>
          <a:p>
            <a:pPr algn="l">
              <a:lnSpc>
                <a:spcPts val="4286"/>
              </a:lnSpc>
              <a:spcBef>
                <a:spcPct val="0"/>
              </a:spcBef>
            </a:pPr>
            <a:r>
              <a:rPr lang="en-US" sz="3061" b="1" u="sng">
                <a:solidFill>
                  <a:srgbClr val="000000"/>
                </a:solidFill>
                <a:latin typeface="Glacial Indifference Bold"/>
                <a:ea typeface="Glacial Indifference Bold"/>
                <a:cs typeface="Glacial Indifference Bold"/>
                <a:sym typeface="Glacial Indifference Bold"/>
              </a:rPr>
              <a:t>Conclusion:</a:t>
            </a:r>
          </a:p>
          <a:p>
            <a:pPr algn="l">
              <a:lnSpc>
                <a:spcPts val="3726"/>
              </a:lnSpc>
              <a:spcBef>
                <a:spcPct val="0"/>
              </a:spcBef>
            </a:pPr>
            <a:r>
              <a:rPr lang="en-US" sz="2661">
                <a:solidFill>
                  <a:srgbClr val="000000"/>
                </a:solidFill>
                <a:latin typeface="Glacial Indifference"/>
                <a:ea typeface="Glacial Indifference"/>
                <a:cs typeface="Glacial Indifference"/>
                <a:sym typeface="Glacial Indifference"/>
              </a:rPr>
              <a:t>This project demonstrates that stress, physical activity, and occupation significantly influence sleep health. The analysis provides meaningful insights that can help individuals adopt healthier lifestyle habits and improve overall sleep quality</a:t>
            </a:r>
          </a:p>
          <a:p>
            <a:pPr algn="l">
              <a:lnSpc>
                <a:spcPts val="4286"/>
              </a:lnSpc>
              <a:spcBef>
                <a:spcPct val="0"/>
              </a:spcBef>
            </a:pPr>
            <a:endParaRPr lang="en-US" sz="2661">
              <a:solidFill>
                <a:srgbClr val="000000"/>
              </a:solidFill>
              <a:latin typeface="Glacial Indifference"/>
              <a:ea typeface="Glacial Indifference"/>
              <a:cs typeface="Glacial Indifference"/>
              <a:sym typeface="Glacial Indifference"/>
            </a:endParaRPr>
          </a:p>
        </p:txBody>
      </p:sp>
      <p:sp>
        <p:nvSpPr>
          <p:cNvPr id="9" name="Freeform 9"/>
          <p:cNvSpPr/>
          <p:nvPr/>
        </p:nvSpPr>
        <p:spPr>
          <a:xfrm>
            <a:off x="13245263" y="-454666"/>
            <a:ext cx="5369650" cy="2966732"/>
          </a:xfrm>
          <a:custGeom>
            <a:avLst/>
            <a:gdLst/>
            <a:ahLst/>
            <a:cxnLst/>
            <a:rect l="l" t="t" r="r" b="b"/>
            <a:pathLst>
              <a:path w="5369650" h="2966732">
                <a:moveTo>
                  <a:pt x="0" y="0"/>
                </a:moveTo>
                <a:lnTo>
                  <a:pt x="5369650" y="0"/>
                </a:lnTo>
                <a:lnTo>
                  <a:pt x="5369650" y="2966732"/>
                </a:lnTo>
                <a:lnTo>
                  <a:pt x="0" y="2966732"/>
                </a:lnTo>
                <a:lnTo>
                  <a:pt x="0" y="0"/>
                </a:lnTo>
                <a:close/>
              </a:path>
            </a:pathLst>
          </a:custGeom>
          <a:blipFill>
            <a:blip r:embed="rId2"/>
            <a:stretch>
              <a:fillRect/>
            </a:stretch>
          </a:blipFill>
        </p:spPr>
        <p:txBody>
          <a:bodyPr/>
          <a:lstStyle/>
          <a:p>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0" y="257525"/>
            <a:ext cx="8110601" cy="2581275"/>
          </a:xfrm>
          <a:prstGeom prst="rect">
            <a:avLst/>
          </a:prstGeom>
        </p:spPr>
        <p:txBody>
          <a:bodyPr lIns="0" tIns="0" rIns="0" bIns="0" rtlCol="0" anchor="t">
            <a:spAutoFit/>
          </a:bodyPr>
          <a:lstStyle/>
          <a:p>
            <a:pPr algn="ctr">
              <a:lnSpc>
                <a:spcPts val="6812"/>
              </a:lnSpc>
            </a:pPr>
            <a:r>
              <a:rPr lang="en-US" sz="5677" b="1" u="sng">
                <a:solidFill>
                  <a:srgbClr val="000000"/>
                </a:solidFill>
                <a:latin typeface="Bricolage Grotesque Bold"/>
                <a:ea typeface="Bricolage Grotesque Bold"/>
                <a:cs typeface="Bricolage Grotesque Bold"/>
                <a:sym typeface="Bricolage Grotesque Bold"/>
              </a:rPr>
              <a:t>Team Contributions:</a:t>
            </a:r>
          </a:p>
          <a:p>
            <a:pPr algn="ctr">
              <a:lnSpc>
                <a:spcPts val="6812"/>
              </a:lnSpc>
            </a:pPr>
            <a:endParaRPr lang="en-US" sz="5677" b="1" u="sng">
              <a:solidFill>
                <a:srgbClr val="000000"/>
              </a:solidFill>
              <a:latin typeface="Bricolage Grotesque Bold"/>
              <a:ea typeface="Bricolage Grotesque Bold"/>
              <a:cs typeface="Bricolage Grotesque Bold"/>
              <a:sym typeface="Bricolage Grotesque Bold"/>
            </a:endParaRPr>
          </a:p>
          <a:p>
            <a:pPr algn="ctr">
              <a:lnSpc>
                <a:spcPts val="6812"/>
              </a:lnSpc>
            </a:pPr>
            <a:endParaRPr lang="en-US" sz="5677" b="1" u="sng">
              <a:solidFill>
                <a:srgbClr val="000000"/>
              </a:solidFill>
              <a:latin typeface="Bricolage Grotesque Bold"/>
              <a:ea typeface="Bricolage Grotesque Bold"/>
              <a:cs typeface="Bricolage Grotesque Bold"/>
              <a:sym typeface="Bricolage Grotesque Bold"/>
            </a:endParaRPr>
          </a:p>
        </p:txBody>
      </p:sp>
      <p:sp>
        <p:nvSpPr>
          <p:cNvPr id="4" name="TextBox 4"/>
          <p:cNvSpPr txBox="1"/>
          <p:nvPr/>
        </p:nvSpPr>
        <p:spPr>
          <a:xfrm>
            <a:off x="406575" y="1469428"/>
            <a:ext cx="15635082" cy="2600326"/>
          </a:xfrm>
          <a:prstGeom prst="rect">
            <a:avLst/>
          </a:prstGeom>
        </p:spPr>
        <p:txBody>
          <a:bodyPr lIns="0" tIns="0" rIns="0" bIns="0" rtlCol="0" anchor="t">
            <a:spAutoFit/>
          </a:bodyPr>
          <a:lstStyle/>
          <a:p>
            <a:pPr algn="l">
              <a:lnSpc>
                <a:spcPts val="4479"/>
              </a:lnSpc>
            </a:pPr>
            <a:endParaRPr dirty="0"/>
          </a:p>
          <a:p>
            <a:pPr algn="l">
              <a:lnSpc>
                <a:spcPts val="4479"/>
              </a:lnSpc>
            </a:pPr>
            <a:r>
              <a:rPr lang="en-US" sz="3199" b="1" dirty="0">
                <a:solidFill>
                  <a:srgbClr val="000000"/>
                </a:solidFill>
                <a:latin typeface="Glacial Indifference Bold"/>
                <a:ea typeface="Glacial Indifference Bold"/>
                <a:cs typeface="Glacial Indifference Bold"/>
                <a:sym typeface="Glacial Indifference Bold"/>
              </a:rPr>
              <a:t>Team lead:</a:t>
            </a:r>
            <a:r>
              <a:rPr lang="en-US" sz="3199" dirty="0">
                <a:solidFill>
                  <a:srgbClr val="000000"/>
                </a:solidFill>
                <a:latin typeface="Glacial Indifference"/>
                <a:ea typeface="Glacial Indifference"/>
                <a:cs typeface="Glacial Indifference"/>
                <a:sym typeface="Glacial Indifference"/>
              </a:rPr>
              <a:t> Mahadik </a:t>
            </a:r>
            <a:r>
              <a:rPr lang="en-US" sz="3199" dirty="0" err="1">
                <a:solidFill>
                  <a:srgbClr val="000000"/>
                </a:solidFill>
                <a:latin typeface="Glacial Indifference"/>
                <a:ea typeface="Glacial Indifference"/>
                <a:cs typeface="Glacial Indifference"/>
                <a:sym typeface="Glacial Indifference"/>
              </a:rPr>
              <a:t>Pruthviraj</a:t>
            </a:r>
            <a:r>
              <a:rPr lang="en-US" sz="3199" dirty="0">
                <a:solidFill>
                  <a:srgbClr val="000000"/>
                </a:solidFill>
                <a:latin typeface="Glacial Indifference"/>
                <a:ea typeface="Glacial Indifference"/>
                <a:cs typeface="Glacial Indifference"/>
                <a:sym typeface="Glacial Indifference"/>
              </a:rPr>
              <a:t> Srinivas(25B11CS534)</a:t>
            </a:r>
          </a:p>
          <a:p>
            <a:pPr algn="l">
              <a:lnSpc>
                <a:spcPts val="3919"/>
              </a:lnSpc>
            </a:pPr>
            <a:r>
              <a:rPr lang="en-US" sz="2799" dirty="0">
                <a:solidFill>
                  <a:srgbClr val="000000"/>
                </a:solidFill>
                <a:latin typeface="Glacial Indifference"/>
                <a:ea typeface="Glacial Indifference"/>
                <a:cs typeface="Glacial Indifference"/>
                <a:sym typeface="Glacial Indifference"/>
              </a:rPr>
              <a:t>Defined the problem statement, objectives, coordinated the project, and prepared the presentation.</a:t>
            </a:r>
          </a:p>
          <a:p>
            <a:pPr algn="ctr">
              <a:lnSpc>
                <a:spcPts val="3919"/>
              </a:lnSpc>
            </a:pPr>
            <a:endParaRPr lang="en-US" sz="2799" dirty="0">
              <a:solidFill>
                <a:srgbClr val="000000"/>
              </a:solidFill>
              <a:latin typeface="Glacial Indifference"/>
              <a:ea typeface="Glacial Indifference"/>
              <a:cs typeface="Glacial Indifference"/>
              <a:sym typeface="Glacial Indifference"/>
            </a:endParaRPr>
          </a:p>
          <a:p>
            <a:pPr algn="ctr">
              <a:lnSpc>
                <a:spcPts val="3919"/>
              </a:lnSpc>
              <a:spcBef>
                <a:spcPct val="0"/>
              </a:spcBef>
            </a:pPr>
            <a:endParaRPr lang="en-US" sz="2799" dirty="0">
              <a:solidFill>
                <a:srgbClr val="000000"/>
              </a:solidFill>
              <a:latin typeface="Glacial Indifference"/>
              <a:ea typeface="Glacial Indifference"/>
              <a:cs typeface="Glacial Indifference"/>
              <a:sym typeface="Glacial Indifference"/>
            </a:endParaRPr>
          </a:p>
        </p:txBody>
      </p:sp>
      <p:sp>
        <p:nvSpPr>
          <p:cNvPr id="5" name="TextBox 5"/>
          <p:cNvSpPr txBox="1"/>
          <p:nvPr/>
        </p:nvSpPr>
        <p:spPr>
          <a:xfrm>
            <a:off x="433035" y="3632789"/>
            <a:ext cx="17421930" cy="2796236"/>
          </a:xfrm>
          <a:prstGeom prst="rect">
            <a:avLst/>
          </a:prstGeom>
        </p:spPr>
        <p:txBody>
          <a:bodyPr lIns="0" tIns="0" rIns="0" bIns="0" rtlCol="0" anchor="t">
            <a:spAutoFit/>
          </a:bodyPr>
          <a:lstStyle/>
          <a:p>
            <a:pPr algn="l">
              <a:lnSpc>
                <a:spcPts val="4426"/>
              </a:lnSpc>
              <a:spcBef>
                <a:spcPct val="0"/>
              </a:spcBef>
            </a:pPr>
            <a:r>
              <a:rPr lang="en-US" sz="3161" b="1" dirty="0">
                <a:solidFill>
                  <a:srgbClr val="000000"/>
                </a:solidFill>
                <a:latin typeface="Glacial Indifference Bold"/>
                <a:ea typeface="Glacial Indifference Bold"/>
                <a:cs typeface="Glacial Indifference Bold"/>
                <a:sym typeface="Glacial Indifference Bold"/>
              </a:rPr>
              <a:t>Data &amp; Tech </a:t>
            </a:r>
            <a:r>
              <a:rPr lang="en-US" sz="3161" b="1" dirty="0" err="1">
                <a:solidFill>
                  <a:srgbClr val="000000"/>
                </a:solidFill>
                <a:latin typeface="Glacial Indifference Bold"/>
                <a:ea typeface="Glacial Indifference Bold"/>
                <a:cs typeface="Glacial Indifference Bold"/>
                <a:sym typeface="Glacial Indifference Bold"/>
              </a:rPr>
              <a:t>Lead:</a:t>
            </a:r>
            <a:r>
              <a:rPr lang="en-US" sz="3161" dirty="0" err="1">
                <a:solidFill>
                  <a:srgbClr val="000000"/>
                </a:solidFill>
                <a:latin typeface="Glacial Indifference"/>
                <a:ea typeface="Glacial Indifference"/>
                <a:cs typeface="Glacial Indifference"/>
                <a:sym typeface="Glacial Indifference"/>
              </a:rPr>
              <a:t>Ekula</a:t>
            </a:r>
            <a:r>
              <a:rPr lang="en-US" sz="3161" dirty="0">
                <a:solidFill>
                  <a:srgbClr val="000000"/>
                </a:solidFill>
                <a:latin typeface="Glacial Indifference"/>
                <a:ea typeface="Glacial Indifference"/>
                <a:cs typeface="Glacial Indifference"/>
                <a:sym typeface="Glacial Indifference"/>
              </a:rPr>
              <a:t> </a:t>
            </a:r>
            <a:r>
              <a:rPr lang="en-US" sz="3161" dirty="0" err="1">
                <a:solidFill>
                  <a:srgbClr val="000000"/>
                </a:solidFill>
                <a:latin typeface="Glacial Indifference"/>
                <a:ea typeface="Glacial Indifference"/>
                <a:cs typeface="Glacial Indifference"/>
                <a:sym typeface="Glacial Indifference"/>
              </a:rPr>
              <a:t>Tejeshwanth</a:t>
            </a:r>
            <a:r>
              <a:rPr lang="en-US" sz="3161" dirty="0">
                <a:solidFill>
                  <a:srgbClr val="000000"/>
                </a:solidFill>
                <a:latin typeface="Glacial Indifference"/>
                <a:ea typeface="Glacial Indifference"/>
                <a:cs typeface="Glacial Indifference"/>
                <a:sym typeface="Glacial Indifference"/>
              </a:rPr>
              <a:t>(25B11CS254)</a:t>
            </a:r>
          </a:p>
          <a:p>
            <a:pPr algn="l">
              <a:lnSpc>
                <a:spcPts val="4426"/>
              </a:lnSpc>
              <a:spcBef>
                <a:spcPct val="0"/>
              </a:spcBef>
            </a:pPr>
            <a:r>
              <a:rPr lang="en-US" sz="3161" dirty="0">
                <a:solidFill>
                  <a:srgbClr val="000000"/>
                </a:solidFill>
                <a:latin typeface="Glacial Indifference"/>
                <a:ea typeface="Glacial Indifference"/>
                <a:cs typeface="Glacial Indifference"/>
                <a:sym typeface="Glacial Indifference"/>
              </a:rPr>
              <a:t>Collected the dataset, performed preprocessing, data cleaning, and explained the technologies used.</a:t>
            </a:r>
          </a:p>
          <a:p>
            <a:pPr algn="ctr">
              <a:lnSpc>
                <a:spcPts val="4426"/>
              </a:lnSpc>
              <a:spcBef>
                <a:spcPct val="0"/>
              </a:spcBef>
            </a:pPr>
            <a:endParaRPr lang="en-US" sz="3161" dirty="0">
              <a:solidFill>
                <a:srgbClr val="000000"/>
              </a:solidFill>
              <a:latin typeface="Glacial Indifference"/>
              <a:ea typeface="Glacial Indifference"/>
              <a:cs typeface="Glacial Indifference"/>
              <a:sym typeface="Glacial Indifference"/>
            </a:endParaRPr>
          </a:p>
          <a:p>
            <a:pPr algn="ctr">
              <a:lnSpc>
                <a:spcPts val="4426"/>
              </a:lnSpc>
              <a:spcBef>
                <a:spcPct val="0"/>
              </a:spcBef>
            </a:pPr>
            <a:endParaRPr lang="en-US" sz="3161" dirty="0">
              <a:solidFill>
                <a:srgbClr val="000000"/>
              </a:solidFill>
              <a:latin typeface="Glacial Indifference"/>
              <a:ea typeface="Glacial Indifference"/>
              <a:cs typeface="Glacial Indifference"/>
              <a:sym typeface="Glacial Indifference"/>
            </a:endParaRPr>
          </a:p>
        </p:txBody>
      </p:sp>
      <p:sp>
        <p:nvSpPr>
          <p:cNvPr id="6" name="TextBox 6"/>
          <p:cNvSpPr txBox="1"/>
          <p:nvPr/>
        </p:nvSpPr>
        <p:spPr>
          <a:xfrm>
            <a:off x="426772" y="5481864"/>
            <a:ext cx="15594688" cy="2206956"/>
          </a:xfrm>
          <a:prstGeom prst="rect">
            <a:avLst/>
          </a:prstGeom>
        </p:spPr>
        <p:txBody>
          <a:bodyPr lIns="0" tIns="0" rIns="0" bIns="0" rtlCol="0" anchor="t">
            <a:spAutoFit/>
          </a:bodyPr>
          <a:lstStyle/>
          <a:p>
            <a:pPr algn="l">
              <a:lnSpc>
                <a:spcPts val="4286"/>
              </a:lnSpc>
            </a:pPr>
            <a:r>
              <a:rPr lang="en-US" sz="3061" dirty="0">
                <a:solidFill>
                  <a:srgbClr val="000000"/>
                </a:solidFill>
                <a:latin typeface="Glacial Indifference"/>
                <a:ea typeface="Glacial Indifference"/>
                <a:cs typeface="Glacial Indifference"/>
                <a:sym typeface="Glacial Indifference"/>
              </a:rPr>
              <a:t>I</a:t>
            </a:r>
            <a:r>
              <a:rPr lang="en-US" sz="3061" b="1" dirty="0">
                <a:solidFill>
                  <a:srgbClr val="000000"/>
                </a:solidFill>
                <a:latin typeface="Glacial Indifference Bold"/>
                <a:ea typeface="Glacial Indifference Bold"/>
                <a:cs typeface="Glacial Indifference Bold"/>
                <a:sym typeface="Glacial Indifference Bold"/>
              </a:rPr>
              <a:t>mplementation Lead:</a:t>
            </a:r>
            <a:r>
              <a:rPr lang="en-US" sz="3061" dirty="0">
                <a:solidFill>
                  <a:srgbClr val="000000"/>
                </a:solidFill>
                <a:latin typeface="Glacial Indifference"/>
                <a:ea typeface="Glacial Indifference"/>
                <a:cs typeface="Glacial Indifference"/>
                <a:sym typeface="Glacial Indifference"/>
              </a:rPr>
              <a:t> S. Bhavitha(25B11CS868)</a:t>
            </a:r>
          </a:p>
          <a:p>
            <a:pPr algn="l">
              <a:lnSpc>
                <a:spcPts val="4426"/>
              </a:lnSpc>
            </a:pPr>
            <a:r>
              <a:rPr lang="en-US" sz="3161" dirty="0">
                <a:solidFill>
                  <a:srgbClr val="000000"/>
                </a:solidFill>
                <a:latin typeface="Glacial Indifference"/>
                <a:ea typeface="Glacial Indifference"/>
                <a:cs typeface="Glacial Indifference"/>
                <a:sym typeface="Glacial Indifference"/>
              </a:rPr>
              <a:t>Developed the Python code, performed EDA, statistical analysis, and created visualizations</a:t>
            </a:r>
          </a:p>
          <a:p>
            <a:pPr algn="ctr">
              <a:lnSpc>
                <a:spcPts val="4426"/>
              </a:lnSpc>
            </a:pPr>
            <a:endParaRPr lang="en-US" sz="3161" dirty="0">
              <a:solidFill>
                <a:srgbClr val="000000"/>
              </a:solidFill>
              <a:latin typeface="Glacial Indifference"/>
              <a:ea typeface="Glacial Indifference"/>
              <a:cs typeface="Glacial Indifference"/>
              <a:sym typeface="Glacial Indifference"/>
            </a:endParaRPr>
          </a:p>
          <a:p>
            <a:pPr algn="ctr">
              <a:lnSpc>
                <a:spcPts val="4426"/>
              </a:lnSpc>
              <a:spcBef>
                <a:spcPct val="0"/>
              </a:spcBef>
            </a:pPr>
            <a:endParaRPr lang="en-US" sz="3161" dirty="0">
              <a:solidFill>
                <a:srgbClr val="000000"/>
              </a:solidFill>
              <a:latin typeface="Glacial Indifference"/>
              <a:ea typeface="Glacial Indifference"/>
              <a:cs typeface="Glacial Indifference"/>
              <a:sym typeface="Glacial Indifference"/>
            </a:endParaRPr>
          </a:p>
        </p:txBody>
      </p:sp>
      <p:sp>
        <p:nvSpPr>
          <p:cNvPr id="7" name="TextBox 7"/>
          <p:cNvSpPr txBox="1"/>
          <p:nvPr/>
        </p:nvSpPr>
        <p:spPr>
          <a:xfrm>
            <a:off x="426772" y="7465889"/>
            <a:ext cx="12311961" cy="1110311"/>
          </a:xfrm>
          <a:prstGeom prst="rect">
            <a:avLst/>
          </a:prstGeom>
        </p:spPr>
        <p:txBody>
          <a:bodyPr lIns="0" tIns="0" rIns="0" bIns="0" rtlCol="0" anchor="t">
            <a:spAutoFit/>
          </a:bodyPr>
          <a:lstStyle/>
          <a:p>
            <a:pPr algn="l">
              <a:lnSpc>
                <a:spcPts val="4426"/>
              </a:lnSpc>
            </a:pPr>
            <a:r>
              <a:rPr lang="en-US" sz="3161" b="1" dirty="0">
                <a:solidFill>
                  <a:srgbClr val="000000"/>
                </a:solidFill>
                <a:latin typeface="Glacial Indifference Bold"/>
                <a:ea typeface="Glacial Indifference Bold"/>
                <a:cs typeface="Glacial Indifference Bold"/>
                <a:sym typeface="Glacial Indifference Bold"/>
              </a:rPr>
              <a:t>QA &amp; </a:t>
            </a:r>
            <a:r>
              <a:rPr lang="en-US" sz="3161" b="1" dirty="0" err="1">
                <a:solidFill>
                  <a:srgbClr val="000000"/>
                </a:solidFill>
                <a:latin typeface="Glacial Indifference Bold"/>
                <a:ea typeface="Glacial Indifference Bold"/>
                <a:cs typeface="Glacial Indifference Bold"/>
                <a:sym typeface="Glacial Indifference Bold"/>
              </a:rPr>
              <a:t>Strartegy</a:t>
            </a:r>
            <a:r>
              <a:rPr lang="en-US" sz="3161" dirty="0" err="1">
                <a:solidFill>
                  <a:srgbClr val="000000"/>
                </a:solidFill>
                <a:latin typeface="Glacial Indifference"/>
                <a:ea typeface="Glacial Indifference"/>
                <a:cs typeface="Glacial Indifference"/>
                <a:sym typeface="Glacial Indifference"/>
              </a:rPr>
              <a:t>:K.Arun</a:t>
            </a:r>
            <a:r>
              <a:rPr lang="en-US" sz="3161" dirty="0">
                <a:solidFill>
                  <a:srgbClr val="000000"/>
                </a:solidFill>
                <a:latin typeface="Glacial Indifference"/>
                <a:ea typeface="Glacial Indifference"/>
                <a:cs typeface="Glacial Indifference"/>
                <a:sym typeface="Glacial Indifference"/>
              </a:rPr>
              <a:t> </a:t>
            </a:r>
            <a:r>
              <a:rPr lang="en-US" sz="3161" dirty="0" err="1">
                <a:solidFill>
                  <a:srgbClr val="000000"/>
                </a:solidFill>
                <a:latin typeface="Glacial Indifference"/>
                <a:ea typeface="Glacial Indifference"/>
                <a:cs typeface="Glacial Indifference"/>
                <a:sym typeface="Glacial Indifference"/>
              </a:rPr>
              <a:t>kumar</a:t>
            </a:r>
            <a:r>
              <a:rPr lang="en-US" sz="3161" dirty="0">
                <a:solidFill>
                  <a:srgbClr val="000000"/>
                </a:solidFill>
                <a:latin typeface="Glacial Indifference"/>
                <a:ea typeface="Glacial Indifference"/>
                <a:cs typeface="Glacial Indifference"/>
                <a:sym typeface="Glacial Indifference"/>
              </a:rPr>
              <a:t>(26B21CS104)</a:t>
            </a:r>
          </a:p>
          <a:p>
            <a:pPr algn="l">
              <a:lnSpc>
                <a:spcPts val="4426"/>
              </a:lnSpc>
              <a:spcBef>
                <a:spcPct val="0"/>
              </a:spcBef>
            </a:pPr>
            <a:r>
              <a:rPr lang="en-US" sz="3161" dirty="0">
                <a:solidFill>
                  <a:srgbClr val="000000"/>
                </a:solidFill>
                <a:latin typeface="Glacial Indifference"/>
                <a:ea typeface="Glacial Indifference"/>
                <a:cs typeface="Glacial Indifference"/>
                <a:sym typeface="Glacial Indifference"/>
              </a:rPr>
              <a:t>Testing, Documentation, Challenges and Future Work </a:t>
            </a:r>
          </a:p>
        </p:txBody>
      </p:sp>
      <p:sp>
        <p:nvSpPr>
          <p:cNvPr id="8" name="Freeform 8"/>
          <p:cNvSpPr/>
          <p:nvPr/>
        </p:nvSpPr>
        <p:spPr>
          <a:xfrm>
            <a:off x="13254788" y="-454666"/>
            <a:ext cx="5369650" cy="2966732"/>
          </a:xfrm>
          <a:custGeom>
            <a:avLst/>
            <a:gdLst/>
            <a:ahLst/>
            <a:cxnLst/>
            <a:rect l="l" t="t" r="r" b="b"/>
            <a:pathLst>
              <a:path w="5369650" h="2966732">
                <a:moveTo>
                  <a:pt x="0" y="0"/>
                </a:moveTo>
                <a:lnTo>
                  <a:pt x="5369650" y="0"/>
                </a:lnTo>
                <a:lnTo>
                  <a:pt x="5369650" y="2966732"/>
                </a:lnTo>
                <a:lnTo>
                  <a:pt x="0" y="2966732"/>
                </a:lnTo>
                <a:lnTo>
                  <a:pt x="0" y="0"/>
                </a:lnTo>
                <a:close/>
              </a:path>
            </a:pathLst>
          </a:custGeom>
          <a:blipFill>
            <a:blip r:embed="rId2"/>
            <a:stretch>
              <a:fillRect/>
            </a:stretch>
          </a:blipFill>
        </p:spPr>
        <p:txBody>
          <a:bodyPr/>
          <a:lstStyle/>
          <a:p>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1231569" y="8596401"/>
            <a:ext cx="16230600" cy="0"/>
          </a:xfrm>
          <a:prstGeom prst="line">
            <a:avLst/>
          </a:prstGeom>
          <a:ln w="28575" cap="flat">
            <a:solidFill>
              <a:srgbClr val="000000"/>
            </a:solidFill>
            <a:prstDash val="solid"/>
            <a:headEnd type="none" w="sm" len="sm"/>
            <a:tailEnd type="none" w="sm" len="sm"/>
          </a:ln>
        </p:spPr>
        <p:txBody>
          <a:bodyPr/>
          <a:lstStyle/>
          <a:p>
            <a:endParaRPr lang="en-IN"/>
          </a:p>
        </p:txBody>
      </p:sp>
      <p:sp>
        <p:nvSpPr>
          <p:cNvPr id="4" name="AutoShape 4"/>
          <p:cNvSpPr/>
          <p:nvPr/>
        </p:nvSpPr>
        <p:spPr>
          <a:xfrm>
            <a:off x="1028700" y="9239250"/>
            <a:ext cx="16230600" cy="0"/>
          </a:xfrm>
          <a:prstGeom prst="line">
            <a:avLst/>
          </a:prstGeom>
          <a:ln w="28575" cap="flat">
            <a:solidFill>
              <a:srgbClr val="000000"/>
            </a:solidFill>
            <a:prstDash val="solid"/>
            <a:headEnd type="none" w="sm" len="sm"/>
            <a:tailEnd type="none" w="sm" len="sm"/>
          </a:ln>
        </p:spPr>
        <p:txBody>
          <a:bodyPr/>
          <a:lstStyle/>
          <a:p>
            <a:endParaRPr lang="en-IN"/>
          </a:p>
        </p:txBody>
      </p:sp>
      <p:sp>
        <p:nvSpPr>
          <p:cNvPr id="5" name="TextBox 5"/>
          <p:cNvSpPr txBox="1"/>
          <p:nvPr/>
        </p:nvSpPr>
        <p:spPr>
          <a:xfrm>
            <a:off x="1994188" y="3620859"/>
            <a:ext cx="13821632" cy="3105150"/>
          </a:xfrm>
          <a:prstGeom prst="rect">
            <a:avLst/>
          </a:prstGeom>
        </p:spPr>
        <p:txBody>
          <a:bodyPr lIns="0" tIns="0" rIns="0" bIns="0" rtlCol="0" anchor="t">
            <a:spAutoFit/>
          </a:bodyPr>
          <a:lstStyle/>
          <a:p>
            <a:pPr algn="l">
              <a:lnSpc>
                <a:spcPts val="24471"/>
              </a:lnSpc>
            </a:pPr>
            <a:r>
              <a:rPr lang="en-US" sz="20393" b="1">
                <a:solidFill>
                  <a:srgbClr val="000000"/>
                </a:solidFill>
                <a:latin typeface="Bricolage Grotesque Bold"/>
                <a:ea typeface="Bricolage Grotesque Bold"/>
                <a:cs typeface="Bricolage Grotesque Bold"/>
                <a:sym typeface="Bricolage Grotesque Bold"/>
              </a:rPr>
              <a:t>Thank You </a:t>
            </a:r>
          </a:p>
        </p:txBody>
      </p:sp>
      <p:sp>
        <p:nvSpPr>
          <p:cNvPr id="6" name="TextBox 6"/>
          <p:cNvSpPr txBox="1"/>
          <p:nvPr/>
        </p:nvSpPr>
        <p:spPr>
          <a:xfrm>
            <a:off x="6858000" y="8606510"/>
            <a:ext cx="10125514" cy="518540"/>
          </a:xfrm>
          <a:prstGeom prst="rect">
            <a:avLst/>
          </a:prstGeom>
        </p:spPr>
        <p:txBody>
          <a:bodyPr wrap="square" lIns="0" tIns="0" rIns="0" bIns="0" rtlCol="0" anchor="t">
            <a:spAutoFit/>
          </a:bodyPr>
          <a:lstStyle/>
          <a:p>
            <a:pPr algn="ctr">
              <a:lnSpc>
                <a:spcPts val="4426"/>
              </a:lnSpc>
              <a:spcBef>
                <a:spcPct val="0"/>
              </a:spcBef>
            </a:pPr>
            <a:r>
              <a:rPr lang="en-US" sz="3161" dirty="0">
                <a:solidFill>
                  <a:srgbClr val="000000"/>
                </a:solidFill>
                <a:latin typeface="Inter"/>
                <a:ea typeface="Inter"/>
                <a:cs typeface="Inter"/>
                <a:sym typeface="Inter"/>
              </a:rPr>
              <a:t>SLEEP HEALTH AND LIFESTYLE ANALYSIS</a:t>
            </a:r>
          </a:p>
        </p:txBody>
      </p:sp>
      <p:sp>
        <p:nvSpPr>
          <p:cNvPr id="7" name="Freeform 7"/>
          <p:cNvSpPr/>
          <p:nvPr/>
        </p:nvSpPr>
        <p:spPr>
          <a:xfrm>
            <a:off x="13245263" y="-454666"/>
            <a:ext cx="5369650" cy="2966732"/>
          </a:xfrm>
          <a:custGeom>
            <a:avLst/>
            <a:gdLst/>
            <a:ahLst/>
            <a:cxnLst/>
            <a:rect l="l" t="t" r="r" b="b"/>
            <a:pathLst>
              <a:path w="5369650" h="2966732">
                <a:moveTo>
                  <a:pt x="0" y="0"/>
                </a:moveTo>
                <a:lnTo>
                  <a:pt x="5369650" y="0"/>
                </a:lnTo>
                <a:lnTo>
                  <a:pt x="5369650" y="2966732"/>
                </a:lnTo>
                <a:lnTo>
                  <a:pt x="0" y="2966732"/>
                </a:lnTo>
                <a:lnTo>
                  <a:pt x="0" y="0"/>
                </a:lnTo>
                <a:close/>
              </a:path>
            </a:pathLst>
          </a:custGeom>
          <a:blipFill>
            <a:blip r:embed="rId2"/>
            <a:stretch>
              <a:fillRect/>
            </a:stretch>
          </a:blipFill>
        </p:spPr>
        <p:txBody>
          <a:bodyPr/>
          <a:lstStyle/>
          <a:p>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692</Words>
  <Application>Microsoft Office PowerPoint</Application>
  <PresentationFormat>Custom</PresentationFormat>
  <Paragraphs>158</Paragraphs>
  <Slides>10</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10</vt:i4>
      </vt:variant>
    </vt:vector>
  </HeadingPairs>
  <TitlesOfParts>
    <vt:vector size="20" baseType="lpstr">
      <vt:lpstr>Bricolage Grotesque Bold</vt:lpstr>
      <vt:lpstr>Inter</vt:lpstr>
      <vt:lpstr>Glacial Indifference</vt:lpstr>
      <vt:lpstr>Calibri</vt:lpstr>
      <vt:lpstr>Arial</vt:lpstr>
      <vt:lpstr>Inter Medium</vt:lpstr>
      <vt:lpstr>Inter Bold</vt:lpstr>
      <vt:lpstr>Aptos</vt:lpstr>
      <vt:lpstr>Glacial Indifference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Minimalist Wellness Presentation</dc:title>
  <dc:creator>Bhavitha</dc:creator>
  <cp:lastModifiedBy>pruthvi raj mahadik</cp:lastModifiedBy>
  <cp:revision>2</cp:revision>
  <dcterms:created xsi:type="dcterms:W3CDTF">2006-08-16T00:00:00Z</dcterms:created>
  <dcterms:modified xsi:type="dcterms:W3CDTF">2026-08-12T08:26:03Z</dcterms:modified>
  <dc:identifier>DAHRzEjYmzY</dc:identifier>
</cp:coreProperties>
</file>